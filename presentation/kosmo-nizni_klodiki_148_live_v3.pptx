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 доступность</c:v>
                </c:pt>
              </c:strCache>
            </c:strRef>
          </c:tx>
          <c:spPr>
            <a:solidFill>
              <a:srgbClr val="9BA3F5"/>
            </a:solidFill>
            <a:ln w="38100" cap="flat">
              <a:solidFill>
                <a:srgbClr val="9BA3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BA3F5"/>
              </a:solidFill>
              <a:ln w="9525" cap="flat">
                <a:solidFill>
                  <a:srgbClr val="9BA3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62.22</c:v>
                </c:pt>
                <c:pt idx="1">
                  <c:v>65.28</c:v>
                </c:pt>
                <c:pt idx="2">
                  <c:v>69.58</c:v>
                </c:pt>
                <c:pt idx="3">
                  <c:v>72.64</c:v>
                </c:pt>
                <c:pt idx="4">
                  <c:v>76.39</c:v>
                </c:pt>
                <c:pt idx="5">
                  <c:v>79.44</c:v>
                </c:pt>
                <c:pt idx="6">
                  <c:v>82.22</c:v>
                </c:pt>
                <c:pt idx="7">
                  <c:v>85.56</c:v>
                </c:pt>
                <c:pt idx="8">
                  <c:v>96.67</c:v>
                </c:pt>
                <c:pt idx="9">
                  <c:v>96.67</c:v>
                </c:pt>
                <c:pt idx="10">
                  <c:v>96.67</c:v>
                </c:pt>
                <c:pt idx="11">
                  <c:v>96.67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цель 90%</c:v>
                </c:pt>
              </c:strCache>
            </c:strRef>
          </c:tx>
          <c:spPr>
            <a:solidFill>
              <a:srgbClr val="E87A7A"/>
            </a:solidFill>
            <a:ln w="19050" cap="flat">
              <a:solidFill>
                <a:srgbClr val="E87A7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A7A"/>
              </a:solidFill>
              <a:ln w="9525" cap="flat">
                <a:solidFill>
                  <a:srgbClr val="E87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232B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9AA3C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7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video" Target="../media/media-3-2.mp4"/><Relationship Id="rId3" Type="http://schemas.microsoft.com/office/2007/relationships/media" Target="../media/media-3-2.mp4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КЕЙС «ПРОЕКТИРОВАНИЕ УСТОЙЧИВОЙ СПУТНИКОВОЙ ГРУППИРОВКИ»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Устойчивая спутниковая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группировка: проектирование,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отказы, рекомендация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Инженерный веб-сервис: считает доступность связи северных пунктов,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каждый разрыв и подбирает конфигурацию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спутников · 3 плоскости · 3 очереди · 3 пункта · 1 шлюз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64040" y="4800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8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88" y="4910328"/>
            <a:ext cx="1609344" cy="1609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5440" y="6656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открыт — проверьте с телефона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стенд: qq27.tail293287.ts.net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 над горизонтом ещё</a:t>
            </a:r>
            <a:endParaRPr lang="en-US" sz="3600" dirty="0"/>
          </a:p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означает, что связь есть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есть только когда в момент времени t существует полный путь: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→ спутник → межспутниковая сеть → шлюз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при ISL 2000 км клиент видит спутник почти все сутки, но сквозной маршрут существует лишь 62,22% времени.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развертывания 16/32/48,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RAAN и фазирование плоскостей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сквозные маршруты на 720 отсчетов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суток; каждый разрыв — с причиной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по доступности,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перерывам и устойчивости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видимость спутника — необходимое, но не достаточное условие связи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86"/>
              </a:lnSpc>
              <a:buNone/>
            </a:pPr>
            <a:r>
              <a:rPr lang="en-US" sz="2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сервис: конфигурация → состояние сети → рекомендация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видеозапись работы сервиса — 37 секунд, всё видно</a:t>
            </a:r>
            <a:endParaRPr lang="en-US" sz="125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2423160"/>
            <a:ext cx="73152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423160"/>
            <a:ext cx="7315200" cy="4114800"/>
          </a:xfrm>
          <a:prstGeom prst="rect">
            <a:avLst/>
          </a:prstGeom>
          <a:ln w="12700">
            <a:solidFill>
              <a:srgbClr val="6E76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записи: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2971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доступности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пункту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3D-схема сети: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спутники, связи, маршрут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прыжок к перерыву 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состояний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сутки по всем пунктам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49640" y="5852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нажмите на видео при показе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БАЗОВЫЕ СЦЕНАРИИ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90% держит</a:t>
            </a:r>
            <a:endParaRPr lang="en-US" sz="3800" dirty="0"/>
          </a:p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полная группировка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920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379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38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469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ПЕРЕРЫВ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43784"/>
            <a:ext cx="11247120" cy="512064"/>
          </a:xfrm>
          <a:prstGeom prst="rect">
            <a:avLst/>
          </a:prstGeom>
          <a:solidFill>
            <a:srgbClr val="232B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98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 (этап 3)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96,67 %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98,75 %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388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98,89 %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4692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мин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410712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65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очередь (этап 2)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61,81 %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62,50 %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8388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65,97 %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46920" y="3465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ч 30 мин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очередь (этап 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27,22 %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15,83 %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12,64 %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4692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ч 16 мин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02920" y="4544568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99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отказов с 6-го часа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9204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79,31 %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3796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80,83 %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8388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82,50 %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46920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мин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02920" y="5111496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 2000 км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8920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77,50 %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3796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62,22 %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18388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65,14 %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64692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ч 58 мин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58338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разные: на 1-й очереди над пунктом просто нет спутника,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ISL 2000 км спутник виден, но сеть рвётся между плоскостями.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geometry.py · 720 отсчетов · стратегия «минимум длины» · числа зафиксированы регрессионными тестами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ДАЛЬНОСТЬ МЕЖСПУТНИКОВОЙ СВЯЗИ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км дают запас: целевой уровень держится</a:t>
            </a:r>
            <a:endParaRPr lang="en-US" sz="3200" dirty="0"/>
          </a:p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примерно с 2725 км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~275 км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38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запаса штатных 3000 км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относительно найденной границы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суточной сетке базовой полной конфигурации: 2700 км → 85,6%, 2725 км → 96,67%, 3000 км → 96,67%. Не универсальная граница — результат для данной геометрии и горизонта.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120640" y="2240280"/>
          <a:ext cx="6492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/>
          <p:nvPr/>
        </p:nvSpPr>
        <p:spPr>
          <a:xfrm>
            <a:off x="5120640" y="59618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2700 км — 85,6 %   ·   </a:t>
            </a:r>
            <a:pPr indent="0" marL="0">
              <a:buNone/>
            </a:pPr>
            <a:r>
              <a:rPr lang="en-US" sz="12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2725 км — 96,67 %</a:t>
            </a:r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3000 км — 96,67 %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официальный расчет: при снижении дальности до 2725 км доступность не меняется — запас требования 275 км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УСТОЙЧИВОСТЬ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N-1: любой одиночный отказ</a:t>
            </a:r>
            <a:endParaRPr lang="en-US" sz="3200" dirty="0"/>
          </a:p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целевой уровень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94,31%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5844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худшая минимальная доступность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48 суточных одиночных отказов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(48/48 проверено, цель ≥90% выполнена)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случай — S44 (№1 ранжирования критичности):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−2,36 п.п. минимальной доступности, 45 клиент-отсчетов теряют маршрут. Самый загруженный (S45) — не самый критичный.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дает инженеру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316382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3063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каждого разрыва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3355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категории: нет видимого спутника · шлюз в отказе · шлюз не видит сеть · разрыв ISL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394106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8404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— сразу перестроение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4133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маршрут или новый перерыв с точным интервалом [начало; конец)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4617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N-1 прогонов на общей геометрии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49103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 и базовые контакты переиспользуются, маршруты пересчитываются для каждого отказа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549554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5394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без общих спутников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56875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времени — метрика запаса прочности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добавили ни одного спутника —</a:t>
            </a:r>
            <a:endParaRPr lang="en-US" sz="3300" dirty="0"/>
          </a:p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нашли запас там, где он уже был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96,67→98,33%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доступность после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автоподбора RAAN/фазирования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(бюджет 40 прогонов)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8→2 мин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4340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перерыв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автоподбора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48/48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13816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N-1: любой одиночный отказ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целевого уровня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развертывать все три очереди; штатную дальность ISL 3000 км сохранять —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2725 км оставляет 275 км запаса на бюджет радиолинии.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7790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найденный кандидат в пределах бюджета поиска; глобальный оптимум не заявляется.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64040" y="484632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14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88" y="4956048"/>
            <a:ext cx="1609344" cy="16093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806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  ·  стенд: qq27.tail293287.ts.net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5105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Вопросы?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АЛГОРИТМ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+ фильтр состояния + 4 стратегии маршрутизации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— один раз на сценарий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3483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треки и маски линий считаются одним проходом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39044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на каждом отсчете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этап, отказы и шлюзы накладываются маской: линия живет, только если оба конца активны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6542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= weighted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8640/8640 маршрутов совпали; 0 невалидных путей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404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самой геометрии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57332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параметров подхватываются корректно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651760"/>
            <a:ext cx="521208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стратегии в интерфейсе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333756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длины — взвешенный поиск, по умолчанию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с гео-эвристикой: тот же оптимум, раскрытий −93%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переходов — BFS, baseline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жадная географическая — быстро, без гарантии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5349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на суточном прогоне: A* раскрыл 1766 узлов против 25920 у полного перебора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— официальный модуль организаторов; независимая реализация формул используется только для parity-проверки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КАЧЕСТВО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теста: границы, маршруты,</a:t>
            </a:r>
            <a:endParaRPr lang="en-US" sz="3400" dirty="0"/>
          </a:p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интерфейс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теста проходят: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(46 граничных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кейсов), маршрутизация,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экспорт,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34340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по README на свежем venv: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→ streamlit run —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проверено, HTTP 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13816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 с автоперезапуском;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зафиксированы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точными версиями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Воспроизводимость: те же входные данные — тот же результат. Экспортируемый effective scenario загружается обратно и проходит ту же валидацию.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ЭКСПОРТ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официальный формат +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файл анализа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06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"cosmo-A-result-1.0",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"effective_scenario": { ... },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"routes": [ ... 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5029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обязательные поля; расширенная аналитика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analysis_report.json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52374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2160 записей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отсчетов × 3 пункта — на каждую пару t_s × client_id ровно одна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57530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Пустой path = маршрута нет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 — в analysis_report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6268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Реимпорт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effective_scenario загружается обратно и проходит полную валидацию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КРИТИЧНОСТЬ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аппараты при одиночном отказе:</a:t>
            </a:r>
            <a:endParaRPr lang="en-US" sz="2800" dirty="0"/>
          </a:p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по всем 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232B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28163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критичности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28163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45 клиент-отсчетов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№2, самый загруженный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593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43 клиент-отсчета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42 клиент-отсчета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называем лидера single point of failure: сеть после его отказа продолжает работать — но именно он создает наибольший риск для минимальной доступности.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23774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1B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пути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5528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путь без общих внутренних спутников с основным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подключенного времени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переключения маршрута — аналитика, не ограничение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РАЗВИТИЕ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рамками базовой модели —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следующим шагом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94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Рельеф и застройка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site-specific horizon mask поверх официальной модели возвышения — без изменения ядра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Пропускная способность и задержки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исходной постановке нет данных каналов; добавляется расширением метрики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897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(sunlight)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модели батарей и критерия энергетического отказа — не отключаем аппараты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44982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группировки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не хардкодит ID и координаты и работает со сценариями схемы cosmo-A-1.0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модель воспроизводима: регрессионные тесты не дают тихо изменить расчет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Устойчивая спутниковая группировка — защита</dc:title>
  <dc:subject>PptxGenJS Presentation</dc:subject>
  <dc:creator>КосмоХакатон 2026 · команда Клодики</dc:creator>
  <cp:lastModifiedBy>КосмоХакатон 2026 · команда Клодики</cp:lastModifiedBy>
  <cp:revision>1</cp:revision>
  <dcterms:created xsi:type="dcterms:W3CDTF">2026-09-13T14:09:52Z</dcterms:created>
  <dcterms:modified xsi:type="dcterms:W3CDTF">2026-09-13T14:09:52Z</dcterms:modified>
</cp:coreProperties>
</file>