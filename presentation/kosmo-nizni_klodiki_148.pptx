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C65</c:v>
                </c:pt>
              </c:strCache>
            </c:strRef>
          </c:tx>
          <c:spPr>
            <a:solidFill>
              <a:srgbClr val="1450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96.67</c:v>
                </c:pt>
                <c:pt idx="1">
                  <c:v>27.22</c:v>
                </c:pt>
                <c:pt idx="2">
                  <c:v>79.31</c:v>
                </c:pt>
                <c:pt idx="3">
                  <c:v>77.5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C70</c:v>
                </c:pt>
              </c:strCache>
            </c:strRef>
          </c:tx>
          <c:spPr>
            <a:solidFill>
              <a:srgbClr val="3B7A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98.75</c:v>
                </c:pt>
                <c:pt idx="1">
                  <c:v>15.83</c:v>
                </c:pt>
                <c:pt idx="2">
                  <c:v>80.83</c:v>
                </c:pt>
                <c:pt idx="3">
                  <c:v>62.22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C72</c:v>
                </c:pt>
              </c:strCache>
            </c:strRef>
          </c:tx>
          <c:spPr>
            <a:solidFill>
              <a:srgbClr val="F2A00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98.89</c:v>
                </c:pt>
                <c:pt idx="1">
                  <c:v>12.64</c:v>
                </c:pt>
                <c:pt idx="2">
                  <c:v>82.5</c:v>
                </c:pt>
                <c:pt idx="3">
                  <c:v>65.14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Цель 90%</c:v>
                </c:pt>
              </c:strCache>
            </c:strRef>
          </c:tx>
          <c:spPr>
            <a:solidFill>
              <a:srgbClr val="C62828"/>
            </a:solidFill>
            <a:ln w="25400" cap="flat">
              <a:solidFill>
                <a:srgbClr val="C6282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90</c:v>
                </c:pt>
                <c:pt idx="1">
                  <c:v>90</c:v>
                </c:pt>
                <c:pt idx="2">
                  <c:v>90</c:v>
                </c:pt>
                <c:pt idx="3">
                  <c:v>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F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7FA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0:00–0:15. «Инженерный веб-сервис для проектирования и проверки устойчивости спутниковой группировки». Условия не пересказываем — жюри знает кейс.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0:15–0:45. Главная мысль: видимый спутник ≠ связь. Нужен полный маршрут клиент → спутник → МСC → шлюз. Наш сервис проектирует конфигурацию, пересчитывает сеть и объясняет каждый разрыв.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0:45–1:25. Показываем глазами цепочку: слева настройки конфигурации → в центре сеть и маршрут/причина → справа итоги и рекомендация. (Если есть скринкаст ≤20 сек — здесь.)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1:25–2:10. Не читать все 12 чисел! Сказать: полная группировка — 3 из 3 пунктов выше цели (96.7–98.9%); первая очередь — 12.6–27.2% с перерывами до 13 часов; стресс-сценарии показывают границы архитектуры.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2:10–2:50. «Мы не только фиксируем отказ связи — мы показываем причину, перестроение маршрута и последствия для каждого пункта. S44 — самый критичный аппарат по нашему анализу: отказ снижает min-доступность на 2.36 п.п.»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2:50–3:30 (затем финальная фраза до 4:00). Резюме оставить на экране во время вопросов: 3/3 выше цели, каждый разрыв объясним, сравнение до решения. Рекомендация: среди исследованных сценариев — полная группировка и ISL 3000 км.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BACKUP. Отвечает на вопрос «почему такой алгоритм маршрутизации?» — Дейкстра по длине, детерминизм, parity с официальным модулем.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BACKUP. «Как проверяли корректность?» — 131 тест, чистый запуск по README, Docker, воспроизводимость.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BACKUP. «Как устроен экспорт?» — строгая официальная схема, реимпорт effective_scenario, analysis report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BACKUP. «Какие аппараты самые уязвимые? Есть ли резерв?» — top-критичность с числами, node-disjoint резерв.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BACKUP. «Что дальше / где ограничения?» — рельеф и застройка как horizon mask поверх официальной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3108960"/>
            <a:ext cx="8686800" cy="8686800"/>
          </a:xfrm>
          <a:prstGeom prst="ellipse">
            <a:avLst/>
          </a:prstGeom>
          <a:ln w="17780">
            <a:solidFill>
              <a:srgbClr val="3B7AB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-1737360"/>
            <a:ext cx="5943600" cy="5943600"/>
          </a:xfrm>
          <a:prstGeom prst="ellipse">
            <a:avLst/>
          </a:prstGeom>
          <a:ln w="13970">
            <a:solidFill>
              <a:srgbClr val="3B7AB8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10928" y="1481328"/>
            <a:ext cx="182880" cy="182880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5" name="Shape 3"/>
          <p:cNvSpPr/>
          <p:nvPr/>
        </p:nvSpPr>
        <p:spPr>
          <a:xfrm>
            <a:off x="7360920" y="4663440"/>
            <a:ext cx="118872" cy="118872"/>
          </a:xfrm>
          <a:prstGeom prst="ellipse">
            <a:avLst/>
          </a:prstGeom>
          <a:solidFill>
            <a:srgbClr val="9FC0D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КОСМОХАКАТОН 2026 · КЕЙС «ПРОЕКТИРОВАНИЕ УСТОЙЧИВОЙ СПУТНИКОВОЙ ГРУППИРОВКИ»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11155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7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Инженерный веб-сервис для проектирования</a:t>
            </a:r>
            <a:endParaRPr lang="en-US" sz="37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7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проверки устойчивости спутниковой группировки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спутников · 3 очереди запуска · 3 северных пункта · 1 шлюз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38221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Целевой уровень кейса: ≥90% времени со сквозным маршрутом для каждого пункта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281160" y="4114800"/>
            <a:ext cx="22402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pic>
        <p:nvPicPr>
          <p:cNvPr id="11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752" y="4206240"/>
            <a:ext cx="1920240" cy="1920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144000" y="62819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открыт прямо сейчас 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отсканируйте и попробуйте сами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" y="4572000"/>
            <a:ext cx="2926080" cy="0"/>
          </a:xfrm>
          <a:prstGeom prst="line">
            <a:avLst/>
          </a:prstGeom>
          <a:noFill/>
          <a:ln w="31750">
            <a:solidFill>
              <a:srgbClr val="F2A00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8006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github.com/ivergit88/cosmohak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Спутник над горизонтом ещё не означает, что связь есть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Услуга работает, только если в каждый момент есть полный маршрут:
</a:t>
            </a:r>
            <a:pPr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→ спутник → межспутниковая сеть → шлюз.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Проектируем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развёртывания, RAAN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фазирование, отказы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проектные параметры до запуска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177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Сквозные маршруты по суткам на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720 отсчётах; каждый разрыв имеет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объяснённую причину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Выбираем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1248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вариантов по доступности,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перерывам и устойчивости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принятия решения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выгружаются в официальном формате result JSON: один маршрут на каждую пару «отсчёт × пункт» (в базовом сценарии — 2160 записей).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документам кейса: постановка задачи, описание данных, критерии оценки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экран: конфигурация → состояние сети → рекомендация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Конфигурация            →        ② Сеть: маршрут или причина разрыва        →        ③ Доступность и рекомендация</a:t>
            </a:r>
            <a:endParaRPr lang="en-US" sz="1200" dirty="0"/>
          </a:p>
        </p:txBody>
      </p:sp>
      <p:pic>
        <p:nvPicPr>
          <p:cNvPr id="5" name="Image 0" descr="C:\Users\Administrator\Desktop\cosmohak\presentation\img\crop_conf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0512"/>
            <a:ext cx="1783080" cy="34198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810512"/>
            <a:ext cx="1783080" cy="3419856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pic>
        <p:nvPicPr>
          <p:cNvPr id="7" name="Image 1" descr="C:\Users\Administrator\Desktop\cosmohak\presentation\img\crop_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810512"/>
            <a:ext cx="6464808" cy="39319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560320" y="1810512"/>
            <a:ext cx="6464808" cy="3931920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pic>
        <p:nvPicPr>
          <p:cNvPr id="9" name="Image 2" descr="C:\Users\Administrator\Desktop\cosmohak\presentation\img\crop_summa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5870448"/>
            <a:ext cx="5120640" cy="8686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560320" y="5870448"/>
            <a:ext cx="5120640" cy="868680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9555480" y="21031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на русском: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скрытый сценарий жюри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проходит без правок кода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9555480" y="374904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3D-схема сети, шкала состояний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всем пунктам, таблица метрик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рекомендация с цифрами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 выдерживает цель — ранняя стадия и стресс-сценарии нет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3F0E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7276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Базовая полная конфигурация: </a:t>
            </a:r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из 3 пунктов выше целевых 90%</a:t>
            </a:r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доступность 96.7–98.9%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286000"/>
          <a:ext cx="69494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863840" y="2331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цель достигается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2743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63840" y="3017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96.7–98.9%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2–8 мин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3401568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0" y="35844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1-я очередь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63840" y="38587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12.6–27.2%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13.3 ч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63840" y="4242816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0" y="44256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аппаратов в отказе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63840" y="4700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79.3–82.5%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20–24 мин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863840" y="508406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0" y="52669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МСC 2000 км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63840" y="55412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62.2–77.5%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3 ч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команды по официальному geometry.py: 720 отсчётов, стратегия «минимум длины»; числа зафиксированы регрессионными тестами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только процент доступности — а почему сеть теряет связь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самый критичный аппарат
по single-outage анализу:
</a:t>
            </a:r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снижает минимальную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на 2.36 п.п., затрагивает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три пункта, 45 отсчётов теряют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1645920"/>
            <a:ext cx="71323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18745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видит инженер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846320" y="2441448"/>
            <a:ext cx="118872" cy="118872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11" name="Text 9"/>
          <p:cNvSpPr/>
          <p:nvPr/>
        </p:nvSpPr>
        <p:spPr>
          <a:xfrm>
            <a:off x="5138928" y="2322576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разрыв объяснён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138928" y="2633472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видимого спутника · шлюз в отказе · нет контакта шлюза · разрыв межспутниковой сети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3337560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321868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аппарата — сразу эффект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138928" y="3529584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перестроение маршрута или новый перерыв с точным интервалом [начало; конец)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4233672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7" name="Text 15"/>
          <p:cNvSpPr/>
          <p:nvPr/>
        </p:nvSpPr>
        <p:spPr>
          <a:xfrm>
            <a:off x="5138928" y="411480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Последствия по каждому пункту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138928" y="4425696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 доступности и перерывов до и после отказа — ещё до принятия решения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5129784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501091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прочности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38928" y="5321808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маршруты, не пересекающиеся с основным, и их доля по времени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 уязвимостей считается за один проход по сетке, без пересчёта орбитальной геометрии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194560"/>
            <a:ext cx="8686800" cy="8686800"/>
          </a:xfrm>
          <a:prstGeom prst="ellipse">
            <a:avLst/>
          </a:prstGeom>
          <a:ln w="16510">
            <a:solidFill>
              <a:srgbClr val="3B7AB8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из 3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пунктов выше целевого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уровня в базовой полной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конфигурации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7472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из 4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47472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категорий причин разрыва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перерыв имеет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объяснение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vs B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конфигурации и отказы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сравниваются до принятия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12700">
            <a:solidFill>
              <a:srgbClr val="3B7A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832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730752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Среди исследованных сценариев и проверенных конфигураций ≥90%</a:t>
            </a:r>
            <a:endParaRPr lang="en-US" sz="22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всех трёх пунктов обеспечивает полная группировка при ISL 3000 км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486460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96.7–98.9% доступности  ·  каждый разрыв воспроизводим в сервисе и в тестах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281160" y="4343400"/>
            <a:ext cx="21488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</p:spPr>
      </p:sp>
      <p:pic>
        <p:nvPicPr>
          <p:cNvPr id="15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0032" y="4462272"/>
            <a:ext cx="1920240" cy="19202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48640" y="55778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  ·  </a:t>
            </a:r>
            <a:pPr indent="0" marL="0">
              <a:buNone/>
            </a:pPr>
            <a:r>
              <a:rPr lang="en-US" sz="125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github.com/ivergit88/cosmohak  ·  gitverse.ru/hackrus.experts/kosmo-nizni_klodiki_148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5989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 Вопросы?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АЛГОРИТМ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геометрия → граф → маршрут → объяснение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геометрия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организаторов (geometry.py)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0175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01568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Динамический граф сети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отсчёте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87044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54496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Сквозной маршрут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минимальной длины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7233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107424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72016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+ причина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каждого разрыва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— Дейкстра по физической длине доступных линий связи.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временном шаге строится актуальный граф, маршрут минимизирует суммарную геометрическую длину; при равенстве результат детерминирован. Baseline — минимум переходов (BFS): достижимость идентична, различается конкретный путь.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6177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корректности: </a:t>
            </a:r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официальный движок + независимая parity-реализация по формулам «Описания данных» — координаты, активность, связи и углы возвышения совпадают в тестах. Границы отказов [start; end), сетка 0…horizon без правого конца.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Продолжение цепочки: анализ причин → критичность → рекомендация — всё на той же официальной модели.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КАЧЕСТВО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Проверяемо, воспроизводимо, запускается одной командой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автотест: валидация (44 граничных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кейса), маршрутизация, метрики,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экспорт, интерфейс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01568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401568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реализации геометрии: официальная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независимая — parity-тесты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совпадения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54496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6254496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по README на свежем venv: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 install → streamlit run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проверено, HTTP 200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07424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9107424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Docker: образ собирается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работает без API-ключей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внешних сервисов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11091672" cy="0"/>
          </a:xfrm>
          <a:prstGeom prst="line">
            <a:avLst/>
          </a:prstGeom>
          <a:noFill/>
          <a:ln w="12700">
            <a:solidFill>
              <a:srgbClr val="9FC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Воспроизводимость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регрессионные числа зафиксированы тестами по всем четырём сценариям кейса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повторные расчёты детерминированы: те же входные данные — тот же результат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зафиксированы точными версиями; абсолютных путей в коде нет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ЭКСПОРТ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Строгий официальный формат — и отдельный файл анализа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0E1B2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02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"schema_version":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C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"cosmo-A-result-1.0",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"effective_scenario": { ... },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"routes": [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"t_s": 120, "client_id": "...",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"path": ["...", "...", "..."] },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5440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result.json — ровно обязательные поля, без дополнений: структура критична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847088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0" name="Text 8"/>
          <p:cNvSpPr/>
          <p:nvPr/>
        </p:nvSpPr>
        <p:spPr>
          <a:xfrm>
            <a:off x="6647688" y="17282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запись на «отсчёт × пункт»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47688" y="203911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пустой path — маршрут отсутствует; в базовом сценарии 2160 записей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5080" y="2871216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3" name="Text 11"/>
          <p:cNvSpPr/>
          <p:nvPr/>
        </p:nvSpPr>
        <p:spPr>
          <a:xfrm>
            <a:off x="6647688" y="275234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effective_scenario — весь сценарий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47688" y="30632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включая все изменения пользователя; повторно загружается сервисом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55080" y="3895344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6" name="Text 14"/>
          <p:cNvSpPr/>
          <p:nvPr/>
        </p:nvSpPr>
        <p:spPr>
          <a:xfrm>
            <a:off x="6647688" y="377647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analysis_report.json — отдельно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47688" y="408736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сводки, стратегия маршрутизации, интервалы перерывов с причинами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4919472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9" name="Text 17"/>
          <p:cNvSpPr/>
          <p:nvPr/>
        </p:nvSpPr>
        <p:spPr>
          <a:xfrm>
            <a:off x="6647688" y="48006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тестами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647688" y="511149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число записей, валидность каждого пути в свой момент, реимпорт сценария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КРИТИЧНОСТЬ И РЕЗЕРВ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points of failure и запас прочности сети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 критичности (полная группировка, single-outage анализ)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7E6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219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37360" y="22402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2.08 п.п.   ·   теряют маршрут 45 отсчётов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6352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35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295351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1.99 п.п.   ·   теряют маршрут 43 отсчёта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29584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484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737360" y="36667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1.94 п.п.   ·   теряют маршрут 42 отсчёта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три пункта затронуты у каждого из лидеров. Кнопка «применить отказ» переносит виртуальный отказ в сценарий — инженер сразу видит перестроение.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78040" y="1600200"/>
            <a:ext cx="44805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5236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пути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52360" y="2286000"/>
            <a:ext cx="3977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ищется путь, не пересекающийся с основным по спутникам (node-disjoint)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времени с резервом — метрика запаса прочности каждого пункта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базовом сценарии резерв существует в 17–38% подключённого времени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переключения маршрутов считаются аналитикой (route changes), на доступность не влияют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РАЗВИТИЕ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не входит в базовую модель — и следующий шаг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рамками базовой модели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рельеф и локальный горизонт пунктов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городская застройка и локальные препятствия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многолучёвость и радиочастотный бюджет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энергетика (вспомогательная функция sunlight вне рамок кейса)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stateful handover — по разъяснению эксперта независимый выбор маршрута на каждом шаге достаточен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7E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этап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Site-specific horizon mask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локальная маска горизонта для каждого пункта поверх официальной модели возвышения — рельеф и urban obstruction без изменения ядра орбитальной модели.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411480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Уже готово к этому: </a:t>
            </a:r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принимает любые environment-значения из JSON, валидация изолирована, регрессионные тесты не дадут тихо изменить официальную модель.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Рельеф/застройка упомянуты постановщиком как развитие и не влияют на текущие критерии оценки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Устойчивая спутниковая группировка — инженерный веб-сервис</dc:title>
  <dc:subject>PptxGenJS Presentation</dc:subject>
  <dc:creator>Команда kosmo-nizni_klodiki_148</dc:creator>
  <cp:lastModifiedBy>Команда kosmo-nizni_klodiki_148</cp:lastModifiedBy>
  <cp:revision>1</cp:revision>
  <dcterms:created xsi:type="dcterms:W3CDTF">2026-09-12T16:47:17Z</dcterms:created>
  <dcterms:modified xsi:type="dcterms:W3CDTF">2026-09-12T16:47:17Z</dcterms:modified>
</cp:coreProperties>
</file>