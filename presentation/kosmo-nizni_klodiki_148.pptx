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C65</c:v>
                </c:pt>
              </c:strCache>
            </c:strRef>
          </c:tx>
          <c:spPr>
            <a:solidFill>
              <a:srgbClr val="14507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Полная
группировка</c:v>
                  </c:pt>
                  <c:pt idx="1">
                    <c:v>1-я очередь</c:v>
                  </c:pt>
                  <c:pt idx="2">
                    <c:v>10 отказов</c:v>
                  </c:pt>
                  <c:pt idx="3">
                    <c:v>МСC 2000 км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96.67</c:v>
                </c:pt>
                <c:pt idx="1">
                  <c:v>27.22</c:v>
                </c:pt>
                <c:pt idx="2">
                  <c:v>79.31</c:v>
                </c:pt>
                <c:pt idx="3">
                  <c:v>77.5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C70</c:v>
                </c:pt>
              </c:strCache>
            </c:strRef>
          </c:tx>
          <c:spPr>
            <a:solidFill>
              <a:srgbClr val="3B7A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Полная
группировка</c:v>
                  </c:pt>
                  <c:pt idx="1">
                    <c:v>1-я очередь</c:v>
                  </c:pt>
                  <c:pt idx="2">
                    <c:v>10 отказов</c:v>
                  </c:pt>
                  <c:pt idx="3">
                    <c:v>МСC 2000 км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98.75</c:v>
                </c:pt>
                <c:pt idx="1">
                  <c:v>15.83</c:v>
                </c:pt>
                <c:pt idx="2">
                  <c:v>80.83</c:v>
                </c:pt>
                <c:pt idx="3">
                  <c:v>62.22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C72</c:v>
                </c:pt>
              </c:strCache>
            </c:strRef>
          </c:tx>
          <c:spPr>
            <a:solidFill>
              <a:srgbClr val="F2A00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Полная
группировка</c:v>
                  </c:pt>
                  <c:pt idx="1">
                    <c:v>1-я очередь</c:v>
                  </c:pt>
                  <c:pt idx="2">
                    <c:v>10 отказов</c:v>
                  </c:pt>
                  <c:pt idx="3">
                    <c:v>МСC 2000 км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98.89</c:v>
                </c:pt>
                <c:pt idx="1">
                  <c:v>12.64</c:v>
                </c:pt>
                <c:pt idx="2">
                  <c:v>82.5</c:v>
                </c:pt>
                <c:pt idx="3">
                  <c:v>65.14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lineChart>
        <c:varyColors val="0"/>
        <c:ser>
          <c:idx val="3"/>
          <c:order val="3"/>
          <c:tx>
            <c:strRef>
              <c:f>Sheet1!$E$1</c:f>
              <c:strCache>
                <c:ptCount val="1"/>
                <c:pt idx="0">
                  <c:v>Цель 90%</c:v>
                </c:pt>
              </c:strCache>
            </c:strRef>
          </c:tx>
          <c:spPr>
            <a:solidFill>
              <a:srgbClr val="C62828"/>
            </a:solidFill>
            <a:ln w="25400" cap="flat">
              <a:solidFill>
                <a:srgbClr val="C62828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Полная
группировка</c:v>
                  </c:pt>
                  <c:pt idx="1">
                    <c:v>1-я очередь</c:v>
                  </c:pt>
                  <c:pt idx="2">
                    <c:v>10 отказов</c:v>
                  </c:pt>
                  <c:pt idx="3">
                    <c:v>МСC 2000 км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90</c:v>
                </c:pt>
                <c:pt idx="1">
                  <c:v>90</c:v>
                </c:pt>
                <c:pt idx="2">
                  <c:v>90</c:v>
                </c:pt>
                <c:pt idx="3">
                  <c:v>90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FE7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C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4F7F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3108960"/>
            <a:ext cx="8686800" cy="8686800"/>
          </a:xfrm>
          <a:prstGeom prst="ellipse">
            <a:avLst/>
          </a:prstGeom>
          <a:ln w="17780">
            <a:solidFill>
              <a:srgbClr val="3B7AB8">
                <a:alpha val="6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-1737360"/>
            <a:ext cx="5943600" cy="5943600"/>
          </a:xfrm>
          <a:prstGeom prst="ellipse">
            <a:avLst/>
          </a:prstGeom>
          <a:ln w="13970">
            <a:solidFill>
              <a:srgbClr val="3B7AB8">
                <a:alpha val="4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710928" y="1481328"/>
            <a:ext cx="182880" cy="182880"/>
          </a:xfrm>
          <a:prstGeom prst="ellipse">
            <a:avLst/>
          </a:prstGeom>
          <a:solidFill>
            <a:srgbClr val="F2A007"/>
          </a:solidFill>
          <a:ln/>
        </p:spPr>
      </p:sp>
      <p:sp>
        <p:nvSpPr>
          <p:cNvPr id="5" name="Shape 3"/>
          <p:cNvSpPr/>
          <p:nvPr/>
        </p:nvSpPr>
        <p:spPr>
          <a:xfrm>
            <a:off x="7360920" y="4663440"/>
            <a:ext cx="118872" cy="118872"/>
          </a:xfrm>
          <a:prstGeom prst="ellipse">
            <a:avLst/>
          </a:prstGeom>
          <a:solidFill>
            <a:srgbClr val="9FC0DC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91440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FC0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КОСМОХАКАТОН 2026 · КЕЙС «ПРОЕКТИРОВАНИЕ УСТОЙЧИВОЙ СПУТНИКОВОЙ ГРУППИРОВКИ»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1371600"/>
            <a:ext cx="11155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500"/>
              </a:lnSpc>
              <a:buNone/>
            </a:pPr>
            <a:r>
              <a:rPr lang="en-US" sz="3700" b="1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Инженерный веб-сервис для проектирования</a:t>
            </a:r>
            <a:endParaRPr lang="en-US" sz="3700" dirty="0"/>
          </a:p>
          <a:p>
            <a:pPr indent="0" marL="0">
              <a:lnSpc>
                <a:spcPts val="4500"/>
              </a:lnSpc>
              <a:buNone/>
            </a:pPr>
            <a:r>
              <a:rPr lang="en-US" sz="3700" b="1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проверки устойчивости спутниковой группировки</a:t>
            </a:r>
            <a:endParaRPr lang="en-US" sz="3700" dirty="0"/>
          </a:p>
        </p:txBody>
      </p:sp>
      <p:sp>
        <p:nvSpPr>
          <p:cNvPr id="8" name="Text 6"/>
          <p:cNvSpPr/>
          <p:nvPr/>
        </p:nvSpPr>
        <p:spPr>
          <a:xfrm>
            <a:off x="548640" y="33832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A0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 спутников · 3 очереди запуска · 3 северных пункта · 1 шлюз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3822192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8FA5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Целевой уровень кейса: ≥90% времени со сквозным маршрутом для каждого пункта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9281160" y="4114800"/>
            <a:ext cx="22402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</p:spPr>
      </p:sp>
      <p:pic>
        <p:nvPicPr>
          <p:cNvPr id="11" name="Image 0" descr="C:\Users\Administrator\Desktop\cosmohak\presentation\img\qr_serv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45752" y="4206240"/>
            <a:ext cx="1920240" cy="192024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9144000" y="628192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C0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Демо-сервис — откройте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FC0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попробуйте сами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48640" y="4572000"/>
            <a:ext cx="2926080" cy="0"/>
          </a:xfrm>
          <a:prstGeom prst="line">
            <a:avLst/>
          </a:prstGeom>
          <a:noFill/>
          <a:ln w="31750">
            <a:solidFill>
              <a:srgbClr val="F2A00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480060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Команда kosmo-nizni_klodiki_148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9FC0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github.com/ivergit88/cosmohak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9811512" y="-1371600"/>
            <a:ext cx="3108960" cy="2194560"/>
          </a:xfrm>
          <a:prstGeom prst="ellipse">
            <a:avLst/>
          </a:prstGeom>
          <a:ln w="15240">
            <a:solidFill>
              <a:srgbClr val="9FC0DC">
                <a:alpha val="9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18520" y="384048"/>
            <a:ext cx="128016" cy="128016"/>
          </a:xfrm>
          <a:prstGeom prst="ellipse">
            <a:avLst/>
          </a:prstGeom>
          <a:solidFill>
            <a:srgbClr val="F2A00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B7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ЗАДАЧА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Спутник над горизонтом ещё не означает, что связь есть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48640" y="14813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Услуга работает, только если в каждый момент есть полный маршрут:
</a:t>
            </a:r>
            <a:pPr indent="0" marL="0">
              <a:buNone/>
            </a:pPr>
            <a:r>
              <a:rPr lang="en-US" sz="17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клиент → спутник → межспутниковая сеть → шлюз.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2514600"/>
            <a:ext cx="342900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1B2A3A">
                <a:alpha val="14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50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Проектируем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22960" y="3310128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Этап, RAAN и фазирование —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проектные параметры; отказы —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сценарии проверки устойчивости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43400" y="2514600"/>
            <a:ext cx="342900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1B2A3A">
                <a:alpha val="14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1772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50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Проверяем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617720" y="3310128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Сквозные маршруты по суткам на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720 отсчётах; каждый разрыв имеет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объяснённую причину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2514600"/>
            <a:ext cx="342900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1B2A3A">
                <a:alpha val="14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41248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0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Выбираем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8412480" y="3310128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Сравнение вариантов по доступности,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перерывам и устойчивости —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 принятия решения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5486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Результаты выгружаются в официальном формате result JSON: один маршрут на каждую пару «отсчёт × пункт» (в базовом сценарии — 2160 записей).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647395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документам кейса: постановка задачи, описание данных, критерии оценки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FC0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ПРОДУКТ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Один сервис: конфигурация → состояние сети → рекомендация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44475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FC0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Конфигурация            →        ② Сеть: маршрут или причина разрыва        →        ③ Доступность и рекомендация</a:t>
            </a:r>
            <a:endParaRPr lang="en-US" sz="1200" dirty="0"/>
          </a:p>
        </p:txBody>
      </p:sp>
      <p:pic>
        <p:nvPicPr>
          <p:cNvPr id="5" name="Image 0" descr="C:\Users\Administrator\Desktop\cosmohak\presentation\img\crop_conf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10512"/>
            <a:ext cx="1783080" cy="341985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810512"/>
            <a:ext cx="1783080" cy="3419856"/>
          </a:xfrm>
          <a:prstGeom prst="rect">
            <a:avLst/>
          </a:prstGeom>
          <a:ln w="12700">
            <a:solidFill>
              <a:srgbClr val="3B7AB8"/>
            </a:solidFill>
            <a:prstDash val="solid"/>
          </a:ln>
        </p:spPr>
      </p:sp>
      <p:pic>
        <p:nvPicPr>
          <p:cNvPr id="7" name="Image 1" descr="C:\Users\Administrator\Desktop\cosmohak\presentation\img\crop_netwo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1810512"/>
            <a:ext cx="6464808" cy="39319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2560320" y="1810512"/>
            <a:ext cx="6464808" cy="3931920"/>
          </a:xfrm>
          <a:prstGeom prst="rect">
            <a:avLst/>
          </a:prstGeom>
          <a:ln w="12700">
            <a:solidFill>
              <a:srgbClr val="3B7AB8"/>
            </a:solidFill>
            <a:prstDash val="solid"/>
          </a:ln>
        </p:spPr>
      </p:sp>
      <p:pic>
        <p:nvPicPr>
          <p:cNvPr id="9" name="Image 2" descr="C:\Users\Administrator\Desktop\cosmohak\presentation\img\crop_summar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0" y="5870448"/>
            <a:ext cx="5120640" cy="86868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2560320" y="5870448"/>
            <a:ext cx="5120640" cy="868680"/>
          </a:xfrm>
          <a:prstGeom prst="rect">
            <a:avLst/>
          </a:prstGeom>
          <a:ln w="12700">
            <a:solidFill>
              <a:srgbClr val="3B7AB8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9555480" y="210312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Интерфейс на русском: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скрытый сценарий жюри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проходит без правок кода</a:t>
            </a:r>
            <a:endParaRPr lang="en-US" sz="1300" dirty="0"/>
          </a:p>
        </p:txBody>
      </p:sp>
      <p:sp>
        <p:nvSpPr>
          <p:cNvPr id="12" name="Text 7"/>
          <p:cNvSpPr/>
          <p:nvPr/>
        </p:nvSpPr>
        <p:spPr>
          <a:xfrm>
            <a:off x="9555480" y="3749040"/>
            <a:ext cx="2194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5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3D-схема сети, шкала состояний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A5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всем пунктам, таблица метрик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A5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рекомендация с цифрами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9811512" y="-1371600"/>
            <a:ext cx="3108960" cy="2194560"/>
          </a:xfrm>
          <a:prstGeom prst="ellipse">
            <a:avLst/>
          </a:prstGeom>
          <a:ln w="15240">
            <a:solidFill>
              <a:srgbClr val="9FC0DC">
                <a:alpha val="9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18520" y="384048"/>
            <a:ext cx="128016" cy="128016"/>
          </a:xfrm>
          <a:prstGeom prst="ellipse">
            <a:avLst/>
          </a:prstGeom>
          <a:solidFill>
            <a:srgbClr val="F2A00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B7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РЕЗУЛЬТАТЫ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Штатная конфигурация достигает цели — этапы 1–2 и стресс-сценарии нет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481328"/>
            <a:ext cx="11091672" cy="566928"/>
          </a:xfrm>
          <a:prstGeom prst="roundRect">
            <a:avLst>
              <a:gd name="adj" fmla="val 9677"/>
            </a:avLst>
          </a:prstGeom>
          <a:solidFill>
            <a:srgbClr val="E3F0E8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572768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Базовая полная конфигурация: </a:t>
            </a:r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из 3 пунктов выше целевых 90%</a:t>
            </a:r>
            <a:pPr indent="0" marL="0">
              <a:buNone/>
            </a:pPr>
            <a:r>
              <a:rPr lang="en-US" sz="15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доступность 96.7–98.9%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2286000"/>
          <a:ext cx="69494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7863840" y="23317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Сводка по сценариям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863840" y="26974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Полная группировка (этап 3)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863840" y="29718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96.7–98.9%</a:t>
            </a:r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перерывы 2–8 мин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863840" y="3300984"/>
            <a:ext cx="3749040" cy="0"/>
          </a:xfrm>
          <a:prstGeom prst="line">
            <a:avLst/>
          </a:prstGeom>
          <a:noFill/>
          <a:ln w="12700">
            <a:solidFill>
              <a:srgbClr val="DFE7E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863840" y="34290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Вторая очередь (этап 2)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863840" y="37033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61.8–66.0%</a:t>
            </a:r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перерывы до 5.5 ч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863840" y="4032504"/>
            <a:ext cx="3749040" cy="0"/>
          </a:xfrm>
          <a:prstGeom prst="line">
            <a:avLst/>
          </a:prstGeom>
          <a:noFill/>
          <a:ln w="12700">
            <a:solidFill>
              <a:srgbClr val="DFE7E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0" y="41605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Первая очередь (этап 1)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7863840" y="44348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12.6–27.2%</a:t>
            </a:r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перерывы до 13.3 ч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863840" y="4764024"/>
            <a:ext cx="3749040" cy="0"/>
          </a:xfrm>
          <a:prstGeom prst="line">
            <a:avLst/>
          </a:prstGeom>
          <a:noFill/>
          <a:ln w="12700">
            <a:solidFill>
              <a:srgbClr val="DFE7E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0" y="48920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аппаратов в отказе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7863840" y="51663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79.3–82.5%</a:t>
            </a:r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перерывы до 24 мин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7863840" y="5495544"/>
            <a:ext cx="3749040" cy="0"/>
          </a:xfrm>
          <a:prstGeom prst="line">
            <a:avLst/>
          </a:prstGeom>
          <a:noFill/>
          <a:ln w="12700">
            <a:solidFill>
              <a:srgbClr val="DFE7E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63840" y="56235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МСC 2000 км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7863840" y="58978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62.2–77.5%</a:t>
            </a:r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перерывы до 2 ч 58 мин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548640" y="647395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 команды по официальному geometry.py: 720 отсчётов, стратегия «минимум длины»; числа зафиксированы регрессионными тестами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9811512" y="-1371600"/>
            <a:ext cx="3108960" cy="2194560"/>
          </a:xfrm>
          <a:prstGeom prst="ellipse">
            <a:avLst/>
          </a:prstGeom>
          <a:ln w="15240">
            <a:solidFill>
              <a:srgbClr val="9FC0DC">
                <a:alpha val="9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18520" y="384048"/>
            <a:ext cx="128016" cy="128016"/>
          </a:xfrm>
          <a:prstGeom prst="ellipse">
            <a:avLst/>
          </a:prstGeom>
          <a:solidFill>
            <a:srgbClr val="F2A00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B7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УСТОЙЧИВОСТЬ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только процент доступности — а почему сеть теряет связь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48640" y="1737360"/>
            <a:ext cx="3108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2A0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S44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548640" y="2926080"/>
            <a:ext cx="3657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№1 в ранжировании критичности
по single-outage анализу:
</a:t>
            </a:r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отказ снижает минимальную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доступность на 2.36 п.п., затрагивает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 три пункта; 45 клиент-отсчетов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теряют маршрут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26280" y="1645920"/>
            <a:ext cx="7132320" cy="438912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1B2A3A">
                <a:alpha val="14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846320" y="187452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видит инженер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846320" y="2441448"/>
            <a:ext cx="118872" cy="118872"/>
          </a:xfrm>
          <a:prstGeom prst="ellipse">
            <a:avLst/>
          </a:prstGeom>
          <a:solidFill>
            <a:srgbClr val="F2A007"/>
          </a:solidFill>
          <a:ln/>
        </p:spPr>
      </p:sp>
      <p:sp>
        <p:nvSpPr>
          <p:cNvPr id="11" name="Text 9"/>
          <p:cNvSpPr/>
          <p:nvPr/>
        </p:nvSpPr>
        <p:spPr>
          <a:xfrm>
            <a:off x="5138928" y="2322576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Каждый разрыв объяснён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138928" y="2633472"/>
            <a:ext cx="6263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нет видимого спутника · шлюз в отказе · нет контакта шлюза · разрыв межспутниковой сети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846320" y="3337560"/>
            <a:ext cx="118872" cy="118872"/>
          </a:xfrm>
          <a:prstGeom prst="ellipse">
            <a:avLst/>
          </a:prstGeom>
          <a:solidFill>
            <a:srgbClr val="14507E"/>
          </a:solidFill>
          <a:ln/>
        </p:spPr>
      </p:sp>
      <p:sp>
        <p:nvSpPr>
          <p:cNvPr id="14" name="Text 12"/>
          <p:cNvSpPr/>
          <p:nvPr/>
        </p:nvSpPr>
        <p:spPr>
          <a:xfrm>
            <a:off x="5138928" y="3218688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Отказ аппарата — сразу эффект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138928" y="3529584"/>
            <a:ext cx="6263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перестроение маршрута или новый перерыв с точным интервалом [начало; конец)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846320" y="4233672"/>
            <a:ext cx="118872" cy="118872"/>
          </a:xfrm>
          <a:prstGeom prst="ellipse">
            <a:avLst/>
          </a:prstGeom>
          <a:solidFill>
            <a:srgbClr val="14507E"/>
          </a:solidFill>
          <a:ln/>
        </p:spPr>
      </p:sp>
      <p:sp>
        <p:nvSpPr>
          <p:cNvPr id="17" name="Text 15"/>
          <p:cNvSpPr/>
          <p:nvPr/>
        </p:nvSpPr>
        <p:spPr>
          <a:xfrm>
            <a:off x="5138928" y="4114800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Последствия по каждому пункту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5138928" y="4425696"/>
            <a:ext cx="6263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 доступности и перерывов до и после отказа — ещё до принятия решения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846320" y="5129784"/>
            <a:ext cx="118872" cy="118872"/>
          </a:xfrm>
          <a:prstGeom prst="ellipse">
            <a:avLst/>
          </a:prstGeom>
          <a:solidFill>
            <a:srgbClr val="14507E"/>
          </a:solidFill>
          <a:ln/>
        </p:spPr>
      </p:sp>
      <p:sp>
        <p:nvSpPr>
          <p:cNvPr id="20" name="Text 18"/>
          <p:cNvSpPr/>
          <p:nvPr/>
        </p:nvSpPr>
        <p:spPr>
          <a:xfrm>
            <a:off x="5138928" y="5010912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Запас прочности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5138928" y="5321808"/>
            <a:ext cx="6263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резервные маршруты без общих внутренних спутников с основным путём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647395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Топ уязвимостей считается за один проход по сетке, без пересчёта орбитальной геометрии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926080" y="2194560"/>
            <a:ext cx="8686800" cy="8686800"/>
          </a:xfrm>
          <a:prstGeom prst="ellipse">
            <a:avLst/>
          </a:prstGeom>
          <a:ln w="16510">
            <a:solidFill>
              <a:srgbClr val="3B7AB8">
                <a:alpha val="6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8686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FC0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РЕЗУЛЬТАТ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2A0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из 3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48640" y="210312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пунктов выше целевого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уровня в базовой полной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конфигурации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3474720" y="128016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2A0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3474720" y="210312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категории причин разрыва —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каждый перерыв имеет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объяснение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00800" y="128016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2A0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vs B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6400800" y="210312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конфигурации и отказы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сравниваются до принятия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решения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154680"/>
            <a:ext cx="11064240" cy="0"/>
          </a:xfrm>
          <a:prstGeom prst="line">
            <a:avLst/>
          </a:prstGeom>
          <a:noFill/>
          <a:ln w="12700">
            <a:solidFill>
              <a:srgbClr val="3B7AB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327355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FC0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РЕКОМЕНДАЦИЯ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3584448"/>
            <a:ext cx="8595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Среди проверенных этапов и стресс-сценариев цель ≥90%</a:t>
            </a:r>
            <a:endParaRPr lang="en-US" sz="20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всех трёх пунктов достигается только на этапе 3</a:t>
            </a:r>
            <a:endParaRPr lang="en-US" sz="20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 штатной дальности ISL 3000 км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4736592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FA5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96.7–98.9% доступности  ·  расчёт воспроизводим в сервисе и автоматических тестах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9281160" y="4343400"/>
            <a:ext cx="214884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/>
        </p:spPr>
      </p:sp>
      <p:pic>
        <p:nvPicPr>
          <p:cNvPr id="15" name="Image 0" descr="C:\Users\Administrator\Desktop\cosmohak\presentation\img\qr_serv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00032" y="4462272"/>
            <a:ext cx="1920240" cy="192024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548640" y="557784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Команда kosmo-nizni_klodiki_148  ·  </a:t>
            </a:r>
            <a:pPr indent="0" marL="0">
              <a:buNone/>
            </a:pPr>
            <a:r>
              <a:rPr lang="en-US" sz="1250" dirty="0">
                <a:solidFill>
                  <a:srgbClr val="9FC0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gitverse.ru/hackrus.experts/kosmo-nizni_klodiki_148 — официальный репозиторий решения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548640" y="5989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Спасибо! Вопросы?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9811512" y="-1371600"/>
            <a:ext cx="3108960" cy="2194560"/>
          </a:xfrm>
          <a:prstGeom prst="ellipse">
            <a:avLst/>
          </a:prstGeom>
          <a:ln w="15240">
            <a:solidFill>
              <a:srgbClr val="9FC0DC">
                <a:alpha val="9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18520" y="384048"/>
            <a:ext cx="128016" cy="128016"/>
          </a:xfrm>
          <a:prstGeom prst="ellipse">
            <a:avLst/>
          </a:prstGeom>
          <a:solidFill>
            <a:srgbClr val="F2A00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B7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· АЛГОРИТМ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Официальная геометрия → граф → маршрут → объяснение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251460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9FC0D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19659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Официальная геометрия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организаторов (geometry.py)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01752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2A0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3401568" y="1828800"/>
            <a:ext cx="251460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9FC0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66160" y="19659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Динамический граф сети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каждом отсчёте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870448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2A0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254496" y="1828800"/>
            <a:ext cx="251460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9FC0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9088" y="19659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Сквозной маршрут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минимальной длины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723376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2A0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9107424" y="1828800"/>
            <a:ext cx="251460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9FC0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272016" y="19659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Доступность + причина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каждого разрыва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548640" y="35204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Маршрут по реальной геометрии сети. 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каждом временном шаге строится актуальный граф, маршрут минимизирует суммарную геометрическую длину; при равенстве результат детерминирован. Baseline — минимум переходов (BFS): достижимость идентична, различается конкретный путь.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461772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корректности: </a:t>
            </a:r>
            <a:pPr indent="0" marL="0">
              <a:buNone/>
            </a:pPr>
            <a:r>
              <a:rPr lang="en-US" sz="14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официальный движок + независимая parity-реализация по формулам «Описания данных» — координаты, активность, связи и углы возвышения совпадают в тестах. Границы отказов [start; end), сетка 0…horizon без правого конца.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" y="5715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Продолжение цепочки: анализ причин → критичность → рекомендация — всё на той же официальной модели.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9811512" y="-1371600"/>
            <a:ext cx="3108960" cy="2194560"/>
          </a:xfrm>
          <a:prstGeom prst="ellipse">
            <a:avLst/>
          </a:prstGeom>
          <a:ln w="15240">
            <a:solidFill>
              <a:srgbClr val="9FC0DC">
                <a:alpha val="9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18520" y="384048"/>
            <a:ext cx="128016" cy="128016"/>
          </a:xfrm>
          <a:prstGeom prst="ellipse">
            <a:avLst/>
          </a:prstGeom>
          <a:solidFill>
            <a:srgbClr val="F2A00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B7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· КАЧЕСТВО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Проверяемо, воспроизводимо, запускается одной командой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48640" y="173736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450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131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548640" y="269748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автотест: валидация (44 граничных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кейса), маршрутизация, метрики,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экспорт, интерфейс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401568" y="173736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450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3401568" y="269748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реализации геометрии: официальная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независимая — parity-тесты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совпадения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254496" y="173736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2A0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6254496" y="269748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запуск по README на свежем venv: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 install → streamlit run —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проверено, HTTP 200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9107424" y="173736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450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600" dirty="0"/>
          </a:p>
        </p:txBody>
      </p:sp>
      <p:sp>
        <p:nvSpPr>
          <p:cNvPr id="13" name="Text 11"/>
          <p:cNvSpPr/>
          <p:nvPr/>
        </p:nvSpPr>
        <p:spPr>
          <a:xfrm>
            <a:off x="9107424" y="269748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команда Docker: образ собирается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работает без API-ключей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внешних сервисов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977640"/>
            <a:ext cx="11091672" cy="0"/>
          </a:xfrm>
          <a:prstGeom prst="line">
            <a:avLst/>
          </a:prstGeom>
          <a:noFill/>
          <a:ln w="12700">
            <a:solidFill>
              <a:srgbClr val="9FC0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41605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Воспроизводимость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48640" y="457200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45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регрессионные числа зафиксированы тестами по всем четырём сценариям кейса</a:t>
            </a:r>
            <a:endParaRPr lang="en-US" sz="14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45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повторные расчёты детерминированы: те же входные данные — тот же результат</a:t>
            </a:r>
            <a:endParaRPr lang="en-US" sz="14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45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requirements зафиксированы точными версиями; абсолютных путей в коде нет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9811512" y="-1371600"/>
            <a:ext cx="3108960" cy="2194560"/>
          </a:xfrm>
          <a:prstGeom prst="ellipse">
            <a:avLst/>
          </a:prstGeom>
          <a:ln w="15240">
            <a:solidFill>
              <a:srgbClr val="9FC0DC">
                <a:alpha val="9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18520" y="384048"/>
            <a:ext cx="128016" cy="128016"/>
          </a:xfrm>
          <a:prstGeom prst="ellipse">
            <a:avLst/>
          </a:prstGeom>
          <a:solidFill>
            <a:srgbClr val="F2A00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B7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· ЭКСПОРТ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Минимальный официальный формат + отдельный файл анализа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394960" cy="4206240"/>
          </a:xfrm>
          <a:prstGeom prst="roundRect">
            <a:avLst>
              <a:gd name="adj" fmla="val 1739"/>
            </a:avLst>
          </a:prstGeom>
          <a:solidFill>
            <a:srgbClr val="0E1B2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92024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9FC0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9FC0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"schema_version": 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9CCC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"cosmo-A-result-1.0",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9FC0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"effective_scenario": { ... },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9FC0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"routes": [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9FC0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 "t_s": 120, "client_id": "...",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9FC0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"path": ["...", "...", "..."] },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9FC0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...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9FC0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]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9FC0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68680" y="521208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Расширения официальный формат допускает — мы сознательно вынесли их в analysis_report.json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355080" y="1847088"/>
            <a:ext cx="118872" cy="118872"/>
          </a:xfrm>
          <a:prstGeom prst="ellipse">
            <a:avLst/>
          </a:prstGeom>
          <a:solidFill>
            <a:srgbClr val="14507E"/>
          </a:solidFill>
          <a:ln/>
        </p:spPr>
      </p:sp>
      <p:sp>
        <p:nvSpPr>
          <p:cNvPr id="10" name="Text 8"/>
          <p:cNvSpPr/>
          <p:nvPr/>
        </p:nvSpPr>
        <p:spPr>
          <a:xfrm>
            <a:off x="6647688" y="1728216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Одна запись на «отсчёт × пункт»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647688" y="2039112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пустой path — маршрут отсутствует; в базовом сценарии 2160 записей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355080" y="2871216"/>
            <a:ext cx="118872" cy="118872"/>
          </a:xfrm>
          <a:prstGeom prst="ellipse">
            <a:avLst/>
          </a:prstGeom>
          <a:solidFill>
            <a:srgbClr val="14507E"/>
          </a:solidFill>
          <a:ln/>
        </p:spPr>
      </p:sp>
      <p:sp>
        <p:nvSpPr>
          <p:cNvPr id="13" name="Text 11"/>
          <p:cNvSpPr/>
          <p:nvPr/>
        </p:nvSpPr>
        <p:spPr>
          <a:xfrm>
            <a:off x="6647688" y="275234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effective_scenario — весь сценарий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647688" y="306324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включая все изменения пользователя; повторно загружается сервисом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355080" y="3895344"/>
            <a:ext cx="118872" cy="118872"/>
          </a:xfrm>
          <a:prstGeom prst="ellipse">
            <a:avLst/>
          </a:prstGeom>
          <a:solidFill>
            <a:srgbClr val="14507E"/>
          </a:solidFill>
          <a:ln/>
        </p:spPr>
      </p:sp>
      <p:sp>
        <p:nvSpPr>
          <p:cNvPr id="16" name="Text 14"/>
          <p:cNvSpPr/>
          <p:nvPr/>
        </p:nvSpPr>
        <p:spPr>
          <a:xfrm>
            <a:off x="6647688" y="3776472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analysis_report.json — отдельно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6647688" y="4087368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сводки, стратегия маршрутизации, интервалы перерывов с причинами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355080" y="4919472"/>
            <a:ext cx="118872" cy="118872"/>
          </a:xfrm>
          <a:prstGeom prst="ellipse">
            <a:avLst/>
          </a:prstGeom>
          <a:solidFill>
            <a:srgbClr val="14507E"/>
          </a:solidFill>
          <a:ln/>
        </p:spPr>
      </p:sp>
      <p:sp>
        <p:nvSpPr>
          <p:cNvPr id="19" name="Text 17"/>
          <p:cNvSpPr/>
          <p:nvPr/>
        </p:nvSpPr>
        <p:spPr>
          <a:xfrm>
            <a:off x="6647688" y="480060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Проверено тестами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647688" y="5111496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число записей, валидность каждого пути в свой момент, реимпорт сценария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9811512" y="-1371600"/>
            <a:ext cx="3108960" cy="2194560"/>
          </a:xfrm>
          <a:prstGeom prst="ellipse">
            <a:avLst/>
          </a:prstGeom>
          <a:ln w="15240">
            <a:solidFill>
              <a:srgbClr val="9FC0DC">
                <a:alpha val="9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18520" y="384048"/>
            <a:ext cx="128016" cy="128016"/>
          </a:xfrm>
          <a:prstGeom prst="ellipse">
            <a:avLst/>
          </a:prstGeom>
          <a:solidFill>
            <a:srgbClr val="F2A00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B7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· КРИТИЧНОСТЬ И РЕЗЕРВ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Критичные аппараты при одиночном отказе и запас прочности сети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Топ критичности (полная группировка, single-outage анализ)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103120"/>
            <a:ext cx="6309360" cy="566928"/>
          </a:xfrm>
          <a:prstGeom prst="roundRect">
            <a:avLst>
              <a:gd name="adj" fmla="val 8065"/>
            </a:avLst>
          </a:prstGeom>
          <a:solidFill>
            <a:srgbClr val="FFF7E6"/>
          </a:solidFill>
          <a:ln w="12700">
            <a:solidFill>
              <a:srgbClr val="DFE7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22199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7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S44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737360" y="224028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Δmin 2.36 п.п.   ·   Δmean 2.08 п.п.   ·   теряют маршрут 45 клиент-отсч.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816352"/>
            <a:ext cx="630936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DFE7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935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S45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737360" y="295351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Δmin 2.36 п.п.   ·   Δmean 1.99 п.п.   ·   теряют маршрут 43 клиент-отсч.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529584"/>
            <a:ext cx="630936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DFE7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364845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737360" y="36667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Δmin 2.36 п.п.   ·   Δmean 1.94 п.п.   ·   теряют маршрут 42 клиент-отсч.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48640" y="4434840"/>
            <a:ext cx="6309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 три пункта затронуты у каждого из лидеров. Кнопка «применить отказ» переносит виртуальный отказ в сценарий — инженер сразу видит перестроение.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178040" y="1600200"/>
            <a:ext cx="4480560" cy="4343400"/>
          </a:xfrm>
          <a:prstGeom prst="roundRect">
            <a:avLst>
              <a:gd name="adj" fmla="val 16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1B2A3A">
                <a:alpha val="14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52360" y="19659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Резервные пути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452360" y="2377440"/>
            <a:ext cx="39776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ищется путь, не пересекающийся с основным по спутникам (node-disjoint)</a:t>
            </a:r>
            <a:endParaRPr lang="en-US" sz="1300" dirty="0"/>
          </a:p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доля времени с резервом — метрика запаса прочности каждого пункта</a:t>
            </a:r>
            <a:endParaRPr lang="en-US" sz="1300" dirty="0"/>
          </a:p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базовом сценарии резерв существует в 17–38% подключённого времени</a:t>
            </a:r>
            <a:endParaRPr lang="en-US" sz="1300" dirty="0"/>
          </a:p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переключения маршрутов считаются аналитикой (route changes), на доступность не влияют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9811512" y="-1371600"/>
            <a:ext cx="3108960" cy="2194560"/>
          </a:xfrm>
          <a:prstGeom prst="ellipse">
            <a:avLst/>
          </a:prstGeom>
          <a:ln w="15240">
            <a:solidFill>
              <a:srgbClr val="9FC0DC">
                <a:alpha val="9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18520" y="384048"/>
            <a:ext cx="128016" cy="128016"/>
          </a:xfrm>
          <a:prstGeom prst="ellipse">
            <a:avLst/>
          </a:prstGeom>
          <a:solidFill>
            <a:srgbClr val="F2A00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B7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· РАЗВИТИЕ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не входит в базовую модель — и следующий шаг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539496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1B2A3A">
                <a:alpha val="14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19659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рамками базовой модели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242316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1000"/>
              </a:spcAft>
              <a:buSzPct val="100000"/>
              <a:buChar char="–"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рельеф и локальный горизонт пунктов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–"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городская застройка и локальные препятствия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–"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многолучёвость и радиочастотный бюджет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–"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энергетика (вспомогательная функция sunlight вне рамок кейса)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–"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stateful handover — по разъяснению эксперта независимый выбор маршрута на каждом шаге достаточен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63640" y="1737360"/>
            <a:ext cx="5394960" cy="4023360"/>
          </a:xfrm>
          <a:prstGeom prst="roundRect">
            <a:avLst>
              <a:gd name="adj" fmla="val 1818"/>
            </a:avLst>
          </a:prstGeom>
          <a:solidFill>
            <a:srgbClr val="FFF7E6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0" y="19659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Следующий этап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83680" y="2423160"/>
            <a:ext cx="4800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Site-specific horizon mask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локальная маска горизонта для каждого пункта поверх официальной модели возвышения — рельеф и urban obstruction без изменения ядра орбитальной модели.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83680" y="4114800"/>
            <a:ext cx="4800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Уже готово к этому: </a:t>
            </a:r>
            <a:pPr indent="0" marL="0">
              <a:buNone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движок принимает любые environment-значения из JSON, валидация изолирована, регрессионные тесты не дадут тихо изменить официальную модель.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647395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Рельеф/застройка упомянуты постановщиком как развитие и не влияют на текущие критерии оценки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Устойчивая спутниковая группировка — инженерный веб-сервис</dc:title>
  <dc:subject>PptxGenJS Presentation</dc:subject>
  <dc:creator>Команда kosmo-nizni_klodiki_148</dc:creator>
  <cp:lastModifiedBy>Команда kosmo-nizni_klodiki_148</cp:lastModifiedBy>
  <cp:revision>1</cp:revision>
  <dcterms:created xsi:type="dcterms:W3CDTF">2026-09-12T19:20:35Z</dcterms:created>
  <dcterms:modified xsi:type="dcterms:W3CDTF">2026-09-12T19:20:35Z</dcterms:modified>
</cp:coreProperties>
</file>