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C65</c:v>
                </c:pt>
              </c:strCache>
            </c:strRef>
          </c:tx>
          <c:spPr>
            <a:solidFill>
              <a:srgbClr val="1450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96.67</c:v>
                </c:pt>
                <c:pt idx="1">
                  <c:v>27.22</c:v>
                </c:pt>
                <c:pt idx="2">
                  <c:v>79.31</c:v>
                </c:pt>
                <c:pt idx="3">
                  <c:v>77.5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C70</c:v>
                </c:pt>
              </c:strCache>
            </c:strRef>
          </c:tx>
          <c:spPr>
            <a:solidFill>
              <a:srgbClr val="3B7A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98.75</c:v>
                </c:pt>
                <c:pt idx="1">
                  <c:v>15.83</c:v>
                </c:pt>
                <c:pt idx="2">
                  <c:v>80.83</c:v>
                </c:pt>
                <c:pt idx="3">
                  <c:v>62.22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C72</c:v>
                </c:pt>
              </c:strCache>
            </c:strRef>
          </c:tx>
          <c:spPr>
            <a:solidFill>
              <a:srgbClr val="F2A00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98.89</c:v>
                </c:pt>
                <c:pt idx="1">
                  <c:v>12.64</c:v>
                </c:pt>
                <c:pt idx="2">
                  <c:v>82.5</c:v>
                </c:pt>
                <c:pt idx="3">
                  <c:v>65.14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C62828"/>
            </a:solidFill>
            <a:ln w="2540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F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3108960"/>
            <a:ext cx="8686800" cy="8686800"/>
          </a:xfrm>
          <a:prstGeom prst="ellipse">
            <a:avLst/>
          </a:prstGeom>
          <a:ln w="17780">
            <a:solidFill>
              <a:srgbClr val="3B7AB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-1737360"/>
            <a:ext cx="5943600" cy="5943600"/>
          </a:xfrm>
          <a:prstGeom prst="ellipse">
            <a:avLst/>
          </a:prstGeom>
          <a:ln w="13970">
            <a:solidFill>
              <a:srgbClr val="3B7AB8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0928" y="1481328"/>
            <a:ext cx="182880" cy="18288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5" name="Shape 3"/>
          <p:cNvSpPr/>
          <p:nvPr/>
        </p:nvSpPr>
        <p:spPr>
          <a:xfrm>
            <a:off x="7360920" y="4663440"/>
            <a:ext cx="118872" cy="118872"/>
          </a:xfrm>
          <a:prstGeom prst="ellipse">
            <a:avLst/>
          </a:prstGeom>
          <a:solidFill>
            <a:srgbClr val="9FC0D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155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Инженерный веб-сервис для проектирования</a:t>
            </a:r>
            <a:endParaRPr lang="en-US" sz="37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7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проверки устойчивости спутниковой группировки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548640" y="3383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3 очереди запуска · 3 северных пункта · 1 шлюз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38221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Целевой уровень кейса: ≥90% времени со сквозным маршрутом для каждого пункта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281160" y="4114800"/>
            <a:ext cx="22402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</p:spPr>
      </p:sp>
      <p:pic>
        <p:nvPicPr>
          <p:cNvPr id="11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45752" y="4206240"/>
            <a:ext cx="1920240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144000" y="62819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Демо-сервис — откройте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телефона и попробуйте сами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457200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48006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gitverse.ru/hackrus.experts/kosmo-nizni_klodiki_148 — официальный репозиторий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 над горизонтом ещё не означает, что связь есть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Услуга работает, только если в каждый момент есть полный маршрут:
</a:t>
            </a:r>
            <a:pPr indent="0" marL="0">
              <a:buNone/>
            </a:pPr>
            <a:r>
              <a:rPr lang="en-US" sz="17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 → межспутниковая сеть → шлюз.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Проектируем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Этап, RAAN и фазирование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проектные параметры; отказы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сценарии проверки устойчивости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Сквозные маршруты по суткам на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отсчётах; каждый разрыв имеет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объяснённую причину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51460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12480" y="3310128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вариантов по доступности,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перерывам и устойчивости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принятия решения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выгружаются в официальном формате result JSON: один маршрут на каждую пару «отсчёт × пункт» (в базовом сценарии — 2160 записей).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документам кейса: постановка задачи, описание данных, критерии оценки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сервис: конфигурация → состояние сети → рекомендация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Конфигурация            →        ② Сеть: маршрут или причина разрыва        →        ③ Доступность и рекомендация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Видеодемонстрация работы сервиса (35 секунд, со звуком не требуется — всё видно)</a:t>
            </a:r>
            <a:endParaRPr lang="en-US" sz="125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2148840"/>
            <a:ext cx="7680960" cy="43205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2148840"/>
            <a:ext cx="7680960" cy="4320540"/>
          </a:xfrm>
          <a:prstGeom prst="rect">
            <a:avLst/>
          </a:prstGeom>
          <a:ln w="12700">
            <a:solidFill>
              <a:srgbClr val="3B7AB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148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 записи: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549640" y="256032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доступности по каждому пункту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3D-схема сети: спутники, связи, маршрут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прыжок к перерыву — причина разрыва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шкала состояний за сутки по всем пунктам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549640" y="51206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нажмите на видео при показе. Живой стенд — по QR на титуле.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Среди проверенных сценариев целевой уровень достигает только полная штатная конфигурация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3F0E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72768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Базовая полная конфигурация: </a:t>
            </a:r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 пунктов выше целевых 90%</a:t>
            </a:r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доступность 96.7–98.9%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28600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7863840" y="2331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Сводка по сценариям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2697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(этап 3)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2971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2–8 мин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863840" y="330098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Вторая очередь (этап 2)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638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61.8–66.0%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5.5 ч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63840" y="403250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0" y="4160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очередь (этап 1)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863840" y="4434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12.6–27.2%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13.3 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863840" y="476402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0" y="4892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аппаратов в отказе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863840" y="51663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79.3–82.5%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24 мин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863840" y="5495544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5623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МСC 2000 км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63840" y="5897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62.2–77.5%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перерывы до 2 ч 58 мин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команды по официальному geometry.py: 720 отсчётов, стратегия «минимум длины»; числа зафиксированы регрессионными тестами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только процент доступности — а почему сеть теряет связь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№1 в ранжировании критичности
по анализу одиночного отказа:
</a:t>
            </a:r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снижает минимальную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на 2.36 п.п., затрагивает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пункта; 45 клиент-отсчетов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теряют маршрут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26280" y="1645920"/>
            <a:ext cx="71323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8745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инженер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46320" y="2441448"/>
            <a:ext cx="118872" cy="118872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11" name="Text 9"/>
          <p:cNvSpPr/>
          <p:nvPr/>
        </p:nvSpPr>
        <p:spPr>
          <a:xfrm>
            <a:off x="5138928" y="2322576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разрыв объяснён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138928" y="2633472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видимого спутника · шлюз в отказе · нет контакта шлюза · разрыв межспутниковой сети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337560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4" name="Text 12"/>
          <p:cNvSpPr/>
          <p:nvPr/>
        </p:nvSpPr>
        <p:spPr>
          <a:xfrm>
            <a:off x="5138928" y="321868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аппарата — сразу эффект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138928" y="3529584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перестроение маршрута или новый перерыв с точным интервалом [начало; конец)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42336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411480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Последствия по каждому пункту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138928" y="4425696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доступности и перерывов до и после отказа — ещё до принятия решения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512978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0" name="Text 18"/>
          <p:cNvSpPr/>
          <p:nvPr/>
        </p:nvSpPr>
        <p:spPr>
          <a:xfrm>
            <a:off x="5138928" y="5010912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прочности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38928" y="5321808"/>
            <a:ext cx="6263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маршруты без общих внутренних спутников с основным путём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уязвимостей считается за один проход по сетке, без пересчёта орбитальной геометрии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194560"/>
            <a:ext cx="8686800" cy="8686800"/>
          </a:xfrm>
          <a:prstGeom prst="ellipse">
            <a:avLst/>
          </a:prstGeom>
          <a:ln w="16510">
            <a:solidFill>
              <a:srgbClr val="3B7AB8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686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пунктов выше целевого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уровня в базовой полной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7472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47472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категории причин разрыва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перерыв имеет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объяснение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0" y="128016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vs B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конфигурации и отказы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сравниваются до принятия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2700">
            <a:solidFill>
              <a:srgbClr val="3B7A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735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584448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Среди проверенных этапов и стресс-сценариев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целевой уровень ≥90% для всех трёх пунктов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достигается только на этапе 3 при штатной дальности ISL 3000 км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736592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 доступности  ·  расчёт воспроизводим в сервисе и автоматических тестах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81160" y="4343400"/>
            <a:ext cx="214884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</p:spPr>
      </p:sp>
      <p:pic>
        <p:nvPicPr>
          <p:cNvPr id="15" name="Image 0" descr="C:\Users\Administrator\Desktop\cosmohak\presentation\img\qr_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2" y="4462272"/>
            <a:ext cx="1920240" cy="19202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48640" y="55778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kosmo-nizni_klodiki_148  ·  </a:t>
            </a:r>
            <a:pPr indent="0" marL="0">
              <a:buNone/>
            </a:pPr>
            <a:r>
              <a:rPr lang="en-US" sz="125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gitverse.ru/hackrus.experts/kosmo-nizni_klodiki_148 — официальный репозиторий решения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5989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 Вопросы?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АЛГОРИТМ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 → граф → маршрут → объяснение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геометрия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организаторов (geometry.py)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0175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401568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Динамический граф сети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отсчёте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70448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54496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Сквозной маршрут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минимальной длины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7233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07424" y="1828800"/>
            <a:ext cx="2514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9FC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72016" y="19659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+ причина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каждого разрыва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35204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по реальной геометрии сети.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временном шаге строится актуальный граф, маршрут минимизирует суммарную геометрическую длину; при равенстве результат детерминирован. Baseline — минимум переходов (BFS): достижимость идентична, различается конкретный путь.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61772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корректности: </a:t>
            </a:r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движок + независимая parity-реализация по формулам «Описания данных» — координаты, активность, связи и углы возвышения совпадают в тестах. Границы отказов [start; end), сетка 0…horizon без правого конца.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Продолжение цепочки: анализ причин → критичность → рекомендация — всё на той же официальной модели.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КАЧЕСТВО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Проверяемо, воспроизводимо, запускается одной командой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автотеста: валидация (46 граничных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кейса), маршрутизация, метрики,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экспорт, интерфейс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01568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401568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реализации геометрии: официальная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независимая — parity-тесты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54496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254496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по README на свежем venv: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→ streamlit run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проверено, HTTP 200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07424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9107424" y="26974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Docker: образ собирается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работает без API-ключей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внешних сервисов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регрессионные числа зафиксированы тестами по всем четырём сценариям кейса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повторные расчёты детерминированы: те же входные данные — тот же результат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зафиксированы точными версиями; абсолютных путей в коде нет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ЭКСПОРТ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Минимальный официальный формат + отдельный файл анализа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0E1B2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202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"schema_version":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CCC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"cosmo-A-result-1.0",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"effective_scenario": { ...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"routes": [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"t_s": 120, "client_id": "...",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"path": ["...", "...", "..."] },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9FC0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5212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Расширения официальный формат допускает — мы сознательно вынесли их в analysis_report.json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55080" y="1847088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0" name="Text 8"/>
          <p:cNvSpPr/>
          <p:nvPr/>
        </p:nvSpPr>
        <p:spPr>
          <a:xfrm>
            <a:off x="6647688" y="17282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запись на «отсчёт × пункт»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47688" y="203911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пустой path — маршрут отсутствует; в базовом сценарии 2160 записей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2871216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7688" y="275234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effective_scenario — весь сценарий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47688" y="30632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включая все изменения пользователя; повторно загружается сервисом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389534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6" name="Text 14"/>
          <p:cNvSpPr/>
          <p:nvPr/>
        </p:nvSpPr>
        <p:spPr>
          <a:xfrm>
            <a:off x="6647688" y="377647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analysis_report.json — отдельно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647688" y="40873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сводки, стратегия маршрутизации, интервалы перерывов с причинами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49194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9" name="Text 17"/>
          <p:cNvSpPr/>
          <p:nvPr/>
        </p:nvSpPr>
        <p:spPr>
          <a:xfrm>
            <a:off x="6647688" y="480060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Проверено тестами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47688" y="511149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 записей, валидность каждого пути в свой момент, реимпорт сценария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КРИТИЧНОСТЬ И РЕЗЕРВ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Критичные аппараты при одиночном отказе и запас прочности сети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 критичности (полная группировка, анализ одиночного отказа)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2219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7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37360" y="22402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2.08 п.п.   ·   теряют маршрут 45 клиент-отсч.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935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S45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1.99 п.п.   ·   теряют маршрут 43 клиент-отсч.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529584"/>
            <a:ext cx="630936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DF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48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37360" y="36667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Δmin 2.36 п.п.   ·   Δmean 1.94 п.п.   ·   теряют маршрут 42 клиент-отсч.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4348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три пункта затронуты у каждого из лидеров. Кнопка «применить отказ» переносит виртуальный отказ в сценарий — инженер сразу видит перестроение.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78040" y="1600200"/>
            <a:ext cx="44805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52360" y="1965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2360" y="2377440"/>
            <a:ext cx="3977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ищется путь, не пересекающийся с основным по спутникам (node-disjoint)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времени с резервом — метрика запаса прочности каждого пункта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базовом сценарии резерв существует в 17–38% подключённого времени</a:t>
            </a:r>
            <a:endParaRPr lang="en-US" sz="1300" dirty="0"/>
          </a:p>
          <a:p>
            <a:pPr marL="152400" indent="-152400">
              <a:spcAft>
                <a:spcPts val="1200"/>
              </a:spcAft>
              <a:buSzPct val="100000"/>
              <a:buChar char="▸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переключения маршрутов считаются аналитикой (route changes), на доступность не влияют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РАЗВИТИЕ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входит в базовую модель — и следующий шаг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рамками базовой модели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локальный горизонт пунктов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городская застройка и локальные препятствия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многолучёвость и радиочастотный бюджет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энергетика (вспомогательная функция sunlight вне рамок кейса)</a:t>
            </a:r>
            <a:endParaRPr lang="en-US" sz="1300" dirty="0"/>
          </a:p>
          <a:p>
            <a:pPr marL="152400" indent="-152400">
              <a:spcAft>
                <a:spcPts val="1000"/>
              </a:spcAft>
              <a:buSzPct val="100000"/>
              <a:buChar char="–"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stateful handover — по разъяснению эксперта независимый выбор маршрута на каждом шаге достаточен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73736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FFF7E6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этап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Site-specific horizon mask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локальная маска горизонта для каждого пункта поверх официальной модели возвышения — рельеф и urban obstruction без изменения ядра орбитальной модели.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411480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готово к этому: </a:t>
            </a:r>
            <a:pPr indent="0" marL="0">
              <a:buNone/>
            </a:pPr>
            <a:r>
              <a:rPr lang="en-US" sz="13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принимает любые environment-значения из JSON, валидация изолирована, регрессионные тесты не дадут тихо изменить официальную модель.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Рельеф и застройка упомянуты постановщиком как возможное развитие и не входят в обязательную базовую модель кейса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инженерный веб-сервис</dc:title>
  <dc:subject>PptxGenJS Presentation</dc:subject>
  <dc:creator>Команда kosmo-nizni_klodiki_148</dc:creator>
  <cp:lastModifiedBy>Команда kosmo-nizni_klodiki_148</cp:lastModifiedBy>
  <cp:revision>1</cp:revision>
  <dcterms:created xsi:type="dcterms:W3CDTF">2026-09-13T07:16:40Z</dcterms:created>
  <dcterms:modified xsi:type="dcterms:W3CDTF">2026-09-13T07:16:40Z</dcterms:modified>
</cp:coreProperties>
</file>