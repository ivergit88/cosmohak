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 доступность</c:v>
                </c:pt>
              </c:strCache>
            </c:strRef>
          </c:tx>
          <c:spPr>
            <a:solidFill>
              <a:srgbClr val="9BA3F5"/>
            </a:solidFill>
            <a:ln w="38100" cap="flat">
              <a:solidFill>
                <a:srgbClr val="9BA3F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9BA3F5"/>
              </a:solidFill>
              <a:ln w="9525" cap="flat">
                <a:solidFill>
                  <a:srgbClr val="9BA3F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2000</c:v>
                  </c:pt>
                  <c:pt idx="1">
                    <c:v>2100</c:v>
                  </c:pt>
                  <c:pt idx="2">
                    <c:v>2200</c:v>
                  </c:pt>
                  <c:pt idx="3">
                    <c:v>2300</c:v>
                  </c:pt>
                  <c:pt idx="4">
                    <c:v>2400</c:v>
                  </c:pt>
                  <c:pt idx="5">
                    <c:v>2500</c:v>
                  </c:pt>
                  <c:pt idx="6">
                    <c:v>2600</c:v>
                  </c:pt>
                  <c:pt idx="7">
                    <c:v>2700</c:v>
                  </c:pt>
                  <c:pt idx="8">
                    <c:v>2725</c:v>
                  </c:pt>
                  <c:pt idx="9">
                    <c:v>2800</c:v>
                  </c:pt>
                  <c:pt idx="10">
                    <c:v>2900</c:v>
                  </c:pt>
                  <c:pt idx="11">
                    <c:v>3000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62.22</c:v>
                </c:pt>
                <c:pt idx="1">
                  <c:v>65.28</c:v>
                </c:pt>
                <c:pt idx="2">
                  <c:v>69.58</c:v>
                </c:pt>
                <c:pt idx="3">
                  <c:v>72.64</c:v>
                </c:pt>
                <c:pt idx="4">
                  <c:v>76.39</c:v>
                </c:pt>
                <c:pt idx="5">
                  <c:v>79.44</c:v>
                </c:pt>
                <c:pt idx="6">
                  <c:v>82.22</c:v>
                </c:pt>
                <c:pt idx="7">
                  <c:v>85.56</c:v>
                </c:pt>
                <c:pt idx="8">
                  <c:v>96.67</c:v>
                </c:pt>
                <c:pt idx="9">
                  <c:v>96.67</c:v>
                </c:pt>
                <c:pt idx="10">
                  <c:v>96.67</c:v>
                </c:pt>
                <c:pt idx="11">
                  <c:v>96.67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цель 90%</c:v>
                </c:pt>
              </c:strCache>
            </c:strRef>
          </c:tx>
          <c:spPr>
            <a:solidFill>
              <a:srgbClr val="E87A7A"/>
            </a:solidFill>
            <a:ln w="19050" cap="flat">
              <a:solidFill>
                <a:srgbClr val="E87A7A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87A7A"/>
              </a:solidFill>
              <a:ln w="9525" cap="flat">
                <a:solidFill>
                  <a:srgbClr val="E87A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2000</c:v>
                  </c:pt>
                  <c:pt idx="1">
                    <c:v>2100</c:v>
                  </c:pt>
                  <c:pt idx="2">
                    <c:v>2200</c:v>
                  </c:pt>
                  <c:pt idx="3">
                    <c:v>2300</c:v>
                  </c:pt>
                  <c:pt idx="4">
                    <c:v>2400</c:v>
                  </c:pt>
                  <c:pt idx="5">
                    <c:v>2500</c:v>
                  </c:pt>
                  <c:pt idx="6">
                    <c:v>2600</c:v>
                  </c:pt>
                  <c:pt idx="7">
                    <c:v>2700</c:v>
                  </c:pt>
                  <c:pt idx="8">
                    <c:v>2725</c:v>
                  </c:pt>
                  <c:pt idx="9">
                    <c:v>2800</c:v>
                  </c:pt>
                  <c:pt idx="10">
                    <c:v>2900</c:v>
                  </c:pt>
                  <c:pt idx="11">
                    <c:v>3000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90</c:v>
                </c:pt>
                <c:pt idx="1">
                  <c:v>90</c:v>
                </c:pt>
                <c:pt idx="2">
                  <c:v>90</c:v>
                </c:pt>
                <c:pt idx="3">
                  <c:v>90</c:v>
                </c:pt>
                <c:pt idx="4">
                  <c:v>90</c:v>
                </c:pt>
                <c:pt idx="5">
                  <c:v>90</c:v>
                </c:pt>
                <c:pt idx="6">
                  <c:v>90</c:v>
                </c:pt>
                <c:pt idx="7">
                  <c:v>90</c:v>
                </c:pt>
                <c:pt idx="8">
                  <c:v>90</c:v>
                </c:pt>
                <c:pt idx="9">
                  <c:v>90</c:v>
                </c:pt>
                <c:pt idx="10">
                  <c:v>90</c:v>
                </c:pt>
                <c:pt idx="11">
                  <c:v>90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9AA3C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55"/>
        </c:scaling>
        <c:delete val="0"/>
        <c:axPos val="l"/>
        <c:majorGridlines>
          <c:spPr>
            <a:ln w="6350" cap="flat">
              <a:solidFill>
                <a:srgbClr val="232B5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9AA3C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9AA3C7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217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video" Target="../media/media-3-1.mp4"/><Relationship Id="rId2" Type="http://schemas.microsoft.com/office/2007/relationships/media" Target="../media/media-3-1.mp4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22960"/>
            <a:ext cx="822960" cy="0"/>
          </a:xfrm>
          <a:prstGeom prst="line">
            <a:avLst/>
          </a:prstGeom>
          <a:noFill/>
          <a:ln w="31750">
            <a:solidFill>
              <a:srgbClr val="9BA3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КОСМОХАКАТОН 2026 · КЕЙС «ПРОЕКТИРОВАНИЕ УСТОЙЧИВОЙ СПУТНИКОВОЙ ГРУППИРОВКИ»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972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720"/>
              </a:lnSpc>
              <a:buNone/>
            </a:pPr>
            <a:r>
              <a:rPr lang="en-US" sz="40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Устойчивая спутниковая</a:t>
            </a:r>
            <a:endParaRPr lang="en-US" sz="4000" dirty="0"/>
          </a:p>
          <a:p>
            <a:pPr indent="0" marL="0">
              <a:lnSpc>
                <a:spcPts val="4720"/>
              </a:lnSpc>
              <a:buNone/>
            </a:pPr>
            <a:r>
              <a:rPr lang="en-US" sz="40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группировка: проектирование,</a:t>
            </a:r>
            <a:endParaRPr lang="en-US" sz="4000" dirty="0"/>
          </a:p>
          <a:p>
            <a:pPr indent="0" marL="0">
              <a:lnSpc>
                <a:spcPts val="4720"/>
              </a:lnSpc>
              <a:buNone/>
            </a:pPr>
            <a:r>
              <a:rPr lang="en-US" sz="40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отказы, рекомендация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79476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Инженерный веб-сервис: считает доступность связи северных пунктов,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объясняет каждый разрыв и подбирает конфигурацию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46177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спутников · 3 плоскости · 3 очереди · 3 пункта · 1 шлюз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464040" y="4800600"/>
            <a:ext cx="210312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</p:spPr>
      </p:sp>
      <p:pic>
        <p:nvPicPr>
          <p:cNvPr id="8" name="Image 0" descr="C:\Users\Administrator\Desktop\cosmohak\presentation\img\qr_serv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9488" y="4910328"/>
            <a:ext cx="1609344" cy="16093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235440" y="665683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стенд открыт — проверьте с телефона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40080" y="576072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gitverse.ru/hackrus.experts/kosmo-nizni_klodiki_148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стенд: qq27.tail293287.ts.net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48"/>
              </a:lnSpc>
              <a:buNone/>
            </a:pPr>
            <a:r>
              <a:rPr lang="en-US" sz="36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Спутник над горизонтом ещё</a:t>
            </a:r>
            <a:endParaRPr lang="en-US" sz="3600" dirty="0"/>
          </a:p>
          <a:p>
            <a:pPr indent="0" marL="0">
              <a:lnSpc>
                <a:spcPts val="4248"/>
              </a:lnSpc>
              <a:buNone/>
            </a:pPr>
            <a:r>
              <a:rPr lang="en-US" sz="36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означает, что связь есть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Связь есть только когда в момент времени t существует полный путь: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 → спутник → межспутниковая сеть → шлюз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4069080"/>
            <a:ext cx="3383280" cy="1965960"/>
          </a:xfrm>
          <a:prstGeom prst="roundRect">
            <a:avLst>
              <a:gd name="adj" fmla="val 3256"/>
            </a:avLst>
          </a:prstGeom>
          <a:solidFill>
            <a:srgbClr val="1B224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42976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Проектируем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48006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развертывания 16/32/48,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RAAN и фазирование плоскостей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4069080"/>
            <a:ext cx="3383280" cy="1965960"/>
          </a:xfrm>
          <a:prstGeom prst="roundRect">
            <a:avLst>
              <a:gd name="adj" fmla="val 3256"/>
            </a:avLst>
          </a:prstGeom>
          <a:solidFill>
            <a:srgbClr val="1B2240"/>
          </a:solidFill>
          <a:ln/>
        </p:spPr>
      </p:sp>
      <p:sp>
        <p:nvSpPr>
          <p:cNvPr id="9" name="Text 7"/>
          <p:cNvSpPr/>
          <p:nvPr/>
        </p:nvSpPr>
        <p:spPr>
          <a:xfrm>
            <a:off x="4617720" y="42976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Проверяем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617720" y="48006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сквозные маршруты на 720 отсчетов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суток; каждый разрыв — с причиной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46720" y="4069080"/>
            <a:ext cx="3383280" cy="1965960"/>
          </a:xfrm>
          <a:prstGeom prst="roundRect">
            <a:avLst>
              <a:gd name="adj" fmla="val 3256"/>
            </a:avLst>
          </a:prstGeom>
          <a:solidFill>
            <a:srgbClr val="1B2240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42976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Выбираем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321040" y="48006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вариантов по доступности,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перерывам и устойчивости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видимость спутника — необходимое, но не достаточное условие связи   ·   Команда kosmo-nizni_klodiki_148   ·   gitverse.ru/hackrus.experts/kosmo-nizni_klodiki_148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ПРОДУКТ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86"/>
              </a:lnSpc>
              <a:buNone/>
            </a:pPr>
            <a:r>
              <a:rPr lang="en-US" sz="27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сервис: конфигурация → состояние сети → рекомендация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видеозапись работы — 20 секунд, всё видно</a:t>
            </a:r>
            <a:endParaRPr lang="en-US" sz="125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40080" y="2423160"/>
            <a:ext cx="7315200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2423160"/>
            <a:ext cx="7315200" cy="4114800"/>
          </a:xfrm>
          <a:prstGeom prst="rect">
            <a:avLst/>
          </a:prstGeom>
          <a:ln w="12700">
            <a:solidFill>
              <a:srgbClr val="6E76D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49640" y="2560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записи: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549640" y="297180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карточки доступности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каждому пункту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3D-схема сети: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спутники, связи, маршрут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прыжок к перерыву —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причина разрыва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шкала состояний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сутки по всем пунктам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549640" y="58521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нажмите на видео при показе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 · БАЗОВЫЕ СЦЕНАРИИ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84"/>
              </a:lnSpc>
              <a:buNone/>
            </a:pPr>
            <a:r>
              <a:rPr lang="en-US" sz="38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90% держит</a:t>
            </a:r>
            <a:endParaRPr lang="en-US" sz="3800" dirty="0"/>
          </a:p>
          <a:p>
            <a:pPr indent="0" marL="0">
              <a:lnSpc>
                <a:spcPts val="4484"/>
              </a:lnSpc>
              <a:buNone/>
            </a:pPr>
            <a:r>
              <a:rPr lang="en-US" sz="38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полная группировка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СЦЕНАРИЙ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892040" y="2514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C65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537960" y="2514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C70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183880" y="2514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C72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646920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ХУДШИЙ ПЕРЕРЫВ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843784"/>
            <a:ext cx="11247120" cy="512064"/>
          </a:xfrm>
          <a:prstGeom prst="rect">
            <a:avLst/>
          </a:prstGeom>
          <a:solidFill>
            <a:srgbClr val="232B5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8986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Полная группировка (этап 3)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892040" y="28986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BD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96,67 %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537960" y="28986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98,75 %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183880" y="28986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98,89 %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646920" y="28986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мин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02920" y="3410712"/>
            <a:ext cx="11247120" cy="512064"/>
          </a:xfrm>
          <a:prstGeom prst="rect">
            <a:avLst/>
          </a:prstGeom>
          <a:solidFill>
            <a:srgbClr val="12172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46557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Вторая очередь (этап 2)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892040" y="346557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61,81 %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537960" y="346557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62,50 %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183880" y="346557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65,97 %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646920" y="346557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ч 30 мин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02920" y="3977640"/>
            <a:ext cx="11247120" cy="512064"/>
          </a:xfrm>
          <a:prstGeom prst="rect">
            <a:avLst/>
          </a:prstGeom>
          <a:solidFill>
            <a:srgbClr val="12172E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03250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Первая очередь (этап 1)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892040" y="403250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27,22 %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537960" y="403250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15,83 %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183880" y="403250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12,64 %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646920" y="403250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ч 16 мин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502920" y="4544568"/>
            <a:ext cx="11247120" cy="512064"/>
          </a:xfrm>
          <a:prstGeom prst="rect">
            <a:avLst/>
          </a:prstGeom>
          <a:solidFill>
            <a:srgbClr val="12172E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5994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отказов с 6-го часа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892040" y="45994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79,31 %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6537960" y="45994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80,83 %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8183880" y="45994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82,50 %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9646920" y="45994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мин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502920" y="5111496"/>
            <a:ext cx="11247120" cy="512064"/>
          </a:xfrm>
          <a:prstGeom prst="rect">
            <a:avLst/>
          </a:prstGeom>
          <a:solidFill>
            <a:srgbClr val="12172E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5166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ISL 2000 км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4892040" y="5166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77,50 %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6537960" y="5166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62,22 %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8183880" y="5166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65,14 %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9646920" y="5166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ч 58 мин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640080" y="58338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Причины разные: на 1-й очереди над пунктом просто нет спутника,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ISL 2000 км спутник виден, но сеть рвётся между плоскостями.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официальный geometry.py · 720 отсчетов · стратегия «минимум длины» · числа зафиксированы регрессионными тестами   ·   Команда kosmo-nizni_klodiki_148   ·   gitverse.ru/hackrus.experts/kosmo-nizni_klodiki_148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 · ДАЛЬНОСТЬ МЕЖСПУТНИКОВОЙ СВЯЗИ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776"/>
              </a:lnSpc>
              <a:buNone/>
            </a:pPr>
            <a:r>
              <a:rPr lang="en-US" sz="32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Требование «ISL не менее 3000 км»</a:t>
            </a:r>
            <a:endParaRPr lang="en-US" sz="3200" dirty="0"/>
          </a:p>
          <a:p>
            <a:pPr indent="0" marL="0">
              <a:lnSpc>
                <a:spcPts val="3776"/>
              </a:lnSpc>
              <a:buNone/>
            </a:pPr>
            <a:r>
              <a:rPr lang="en-US" sz="32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было избыточным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6060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9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2725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353872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км — порог, выше которого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доступность не растет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47091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проверено с шагом 25 км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диапазоне 2000–3000 км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54406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Требование к аппаратуре снижается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инженерным запасом на радиолинию.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120640" y="2240280"/>
          <a:ext cx="649224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5120640" y="596188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2700 км — 85,6 %   ·   </a:t>
            </a:r>
            <a:pPr indent="0" marL="0">
              <a:buNone/>
            </a:pPr>
            <a:r>
              <a:rPr lang="en-US" sz="1200" b="1" dirty="0">
                <a:solidFill>
                  <a:srgbClr val="9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2725 км — 96,67 %</a:t>
            </a:r>
            <a:pPr indent="0" marL="0">
              <a:buNone/>
            </a:pPr>
            <a:r>
              <a:rPr lang="en-US" sz="12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3000 км — 96,67 %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тот же официальный расчет: при снижении дальности до 2725 км доступность не меняется — запас требования 275 км   ·   Команда kosmo-nizni_klodiki_148   ·   gitverse.ru/hackrus.experts/kosmo-nizni_klodiki_148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 · УСТОЙЧИВОСТЬ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40"/>
              </a:lnSpc>
              <a:buNone/>
            </a:pPr>
            <a:r>
              <a:rPr lang="en-US" sz="30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Загруженный аппарат и критичный</a:t>
            </a:r>
            <a:endParaRPr lang="en-US" sz="3000" dirty="0"/>
          </a:p>
          <a:p>
            <a:pPr indent="0" marL="0">
              <a:lnSpc>
                <a:spcPts val="3540"/>
              </a:lnSpc>
              <a:buNone/>
            </a:pPr>
            <a:r>
              <a:rPr lang="en-US" sz="30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аппарат — разные аппараты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9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S44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358444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№1 в ранжировании критичности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(анализ одиночного отказа):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отказ снижает min доступность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2,36 п.п., 45 клиент-отсчетов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теряют маршрут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50292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Самый загруженный — S45 (83 пары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«момент × пункт») — при этом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самый критичный.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2377440"/>
            <a:ext cx="6949440" cy="3977640"/>
          </a:xfrm>
          <a:prstGeom prst="roundRect">
            <a:avLst>
              <a:gd name="adj" fmla="val 1609"/>
            </a:avLst>
          </a:prstGeom>
          <a:solidFill>
            <a:srgbClr val="1B224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26060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это дает инженеру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0" y="3163824"/>
            <a:ext cx="109728" cy="109728"/>
          </a:xfrm>
          <a:prstGeom prst="ellipse">
            <a:avLst/>
          </a:prstGeom>
          <a:solidFill>
            <a:srgbClr val="9BA3F5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0" y="306324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Причина каждого разрыва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03520" y="3355848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категории: нет видимого спутника · шлюз в отказе · шлюз не видит сеть · разрыв ISL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0" y="3941064"/>
            <a:ext cx="109728" cy="109728"/>
          </a:xfrm>
          <a:prstGeom prst="ellipse">
            <a:avLst/>
          </a:prstGeom>
          <a:solidFill>
            <a:srgbClr val="6E76D6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0" y="384048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Отказ — сразу перестроение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03520" y="4133088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новый маршрут или новый перерыв с точным интервалом [начало; конец)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0" y="4718304"/>
            <a:ext cx="109728" cy="109728"/>
          </a:xfrm>
          <a:prstGeom prst="ellipse">
            <a:avLst/>
          </a:prstGeom>
          <a:solidFill>
            <a:srgbClr val="6E76D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0" y="461772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Leave-one-out за один проход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03520" y="4910328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48 аппаратов проверены без пересчета орбит — секунды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0" y="5495544"/>
            <a:ext cx="109728" cy="109728"/>
          </a:xfrm>
          <a:prstGeom prst="ellipse">
            <a:avLst/>
          </a:prstGeom>
          <a:solidFill>
            <a:srgbClr val="6E76D6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0" y="539496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Резерв без общих спутников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03520" y="5687568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есть в 17–38% времени — метрика запаса прочности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822960" cy="0"/>
          </a:xfrm>
          <a:prstGeom prst="line">
            <a:avLst/>
          </a:prstGeom>
          <a:noFill/>
          <a:ln w="31750">
            <a:solidFill>
              <a:srgbClr val="9BA3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9601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94"/>
              </a:lnSpc>
              <a:buNone/>
            </a:pPr>
            <a:r>
              <a:rPr lang="en-US" sz="33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Мы не добавили ни одного спутника —</a:t>
            </a:r>
            <a:endParaRPr lang="en-US" sz="3300" dirty="0"/>
          </a:p>
          <a:p>
            <a:pPr indent="0" marL="0">
              <a:lnSpc>
                <a:spcPts val="3894"/>
              </a:lnSpc>
              <a:buNone/>
            </a:pPr>
            <a:r>
              <a:rPr lang="en-US" sz="33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нашли запас там, где он уже был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+1,67 п.п.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76732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минимальной доступности: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фазирование, найденное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оптимизатором за 40 прогонов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343400" y="28346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275 км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343400" y="376732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запаса в требовании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 дальности ISL: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порог 2725, штатно 3000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38160" y="28346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138160" y="376732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автотеста: границы, маршруты,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экспорт, интерфейс —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проходят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709160"/>
            <a:ext cx="10972800" cy="0"/>
          </a:xfrm>
          <a:prstGeom prst="line">
            <a:avLst/>
          </a:prstGeom>
          <a:noFill/>
          <a:ln w="12700">
            <a:solidFill>
              <a:srgbClr val="6E76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8920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9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РЕКОМЕНДАЦИЯ: 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развертывать все три очереди; штатную дальность ISL 3000 км сохранять —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порог 2725 км оставляет 275 км запаса на бюджет радиолинии.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464040" y="4846320"/>
            <a:ext cx="210312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</p:spPr>
      </p:sp>
      <p:pic>
        <p:nvPicPr>
          <p:cNvPr id="13" name="Image 0" descr="C:\Users\Administrator\Desktop\cosmohak\presentation\img\qr_serv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9488" y="4956048"/>
            <a:ext cx="1609344" cy="160934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0080" y="58064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gitverse.ru/hackrus.experts/kosmo-nizni_klodiki_148  ·  стенд: qq27.tail293287.ts.net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40080" y="6217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Спасибо! Вопросы?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· АЛГОРИТМ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04"/>
              </a:lnSpc>
              <a:buNone/>
            </a:pPr>
            <a:r>
              <a:rPr lang="en-US" sz="28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Кэш геометрии + фильтр состояния + 4 стратегии маршрутизации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Кэш геометрии — один раз на сценарий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68680" y="35661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треки аппаратов, маски межспутниковых линий и наземных линий считаются одним проходом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Фильтр на каждом отсчете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68680" y="44805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развертывания, периоды отказов и шлюзы накладываются маской: линия остается, только если оба конца активны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5029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невалидных маршрутов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68680" y="53949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построенный путь проверяется на допустимость ребер в свой момент времени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5943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Смена самой геометрии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68680" y="63093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кэш признается непригодным и пересобирается — изменения параметров поддерживаются корректно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2651760"/>
            <a:ext cx="5212080" cy="3291840"/>
          </a:xfrm>
          <a:prstGeom prst="roundRect">
            <a:avLst>
              <a:gd name="adj" fmla="val 1944"/>
            </a:avLst>
          </a:prstGeom>
          <a:solidFill>
            <a:srgbClr val="1B2240"/>
          </a:solidFill>
          <a:ln/>
        </p:spPr>
      </p:sp>
      <p:sp>
        <p:nvSpPr>
          <p:cNvPr id="13" name="Text 11"/>
          <p:cNvSpPr/>
          <p:nvPr/>
        </p:nvSpPr>
        <p:spPr>
          <a:xfrm>
            <a:off x="6720840" y="2880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стратегии в интерфейсе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720840" y="3337560"/>
            <a:ext cx="4617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2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минимум длины — взвешенный поиск, по умолчанию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2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A* с гео-эвристикой: тот же оптимум, раскрытий −93%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2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минимум переходов — BFS, baseline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2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жадная географическая — быстро, без гарантии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720840" y="534924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замер на суточном прогоне: A* раскрыл 1766 узлов против 25920 у полного перебора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геометрия — официальный модуль организаторов; независимая реализация формул используется только для parity-проверки   ·   Команда kosmo-nizni_klodiki_148   ·   gitverse.ru/hackrus.experts/kosmo-nizni_klodiki_148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· КАЧЕСТВО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12"/>
              </a:lnSpc>
              <a:buNone/>
            </a:pPr>
            <a:r>
              <a:rPr lang="en-US" sz="34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 теста: границы, маршруты,</a:t>
            </a:r>
            <a:endParaRPr lang="en-US" sz="3400" dirty="0"/>
          </a:p>
          <a:p>
            <a:pPr indent="0" marL="0">
              <a:lnSpc>
                <a:spcPts val="4012"/>
              </a:lnSpc>
              <a:buNone/>
            </a:pPr>
            <a:r>
              <a:rPr lang="en-US" sz="34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экспорт, интерфейс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9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95020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теста проходят: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валидация (46 граничных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кейсов), маршрутизация,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метрики, экспорт, UI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343400" y="30175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343400" y="395020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 по README на свежем venv: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 install → streamlit run —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проверено, HTTP 200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38160" y="30175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8138160" y="395020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контейнер с автоперезапуском;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зависимости зафиксированы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точными версиями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5120640"/>
            <a:ext cx="10972800" cy="0"/>
          </a:xfrm>
          <a:prstGeom prst="line">
            <a:avLst/>
          </a:prstGeom>
          <a:noFill/>
          <a:ln w="12700">
            <a:solidFill>
              <a:srgbClr val="6E76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53035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Воспроизводимость: те же входные данные — тот же результат. Экспортируемый effective scenario загружается обратно и проходит ту же валидацию.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 kosmo-nizni_klodiki_148   ·   gitverse.ru/hackrus.experts/kosmo-nizni_klodiki_148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· ЭКСПОРТ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40"/>
              </a:lnSpc>
              <a:buNone/>
            </a:pPr>
            <a:r>
              <a:rPr lang="en-US" sz="30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Минимальный официальный формат +</a:t>
            </a:r>
            <a:endParaRPr lang="en-US" sz="3000" dirty="0"/>
          </a:p>
          <a:p>
            <a:pPr indent="0" marL="0">
              <a:lnSpc>
                <a:spcPts val="3540"/>
              </a:lnSpc>
              <a:buNone/>
            </a:pPr>
            <a:r>
              <a:rPr lang="en-US" sz="30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отдельный файл анализа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5394960" cy="3291840"/>
          </a:xfrm>
          <a:prstGeom prst="roundRect">
            <a:avLst>
              <a:gd name="adj" fmla="val 1944"/>
            </a:avLst>
          </a:prstGeom>
          <a:solidFill>
            <a:srgbClr val="1B2240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60604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9CF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9CF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"schema_version": </a:t>
            </a:r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9BA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"cosmo-A-result-1.0",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9CF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"effective_scenario": { ... },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9CF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"routes": [ ... ]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9CF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50292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обязательные поля; расширенная аналитика —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analysis_report.json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0" y="2523744"/>
            <a:ext cx="109728" cy="109728"/>
          </a:xfrm>
          <a:prstGeom prst="ellipse">
            <a:avLst/>
          </a:prstGeom>
          <a:solidFill>
            <a:srgbClr val="9BA3F5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0" y="24231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2160 записей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675120" y="274320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720 отсчетов × 3 пункта — на каждую пару t_s × client_id ровно одна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3575304"/>
            <a:ext cx="109728" cy="109728"/>
          </a:xfrm>
          <a:prstGeom prst="ellipse">
            <a:avLst/>
          </a:prstGeom>
          <a:solidFill>
            <a:srgbClr val="9BA3F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34747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Пустой path = маршрута нет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675120" y="379476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причина разрыва — в analysis_report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4626864"/>
            <a:ext cx="109728" cy="109728"/>
          </a:xfrm>
          <a:prstGeom prst="ellipse">
            <a:avLst/>
          </a:prstGeom>
          <a:solidFill>
            <a:srgbClr val="9BA3F5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45262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Реимпорт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75120" y="484632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effective_scenario загружается обратно и проходит полную валидацию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 kosmo-nizni_klodiki_148   ·   gitverse.ru/hackrus.experts/kosmo-nizni_klodiki_148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· КРИТИЧНОСТЬ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04"/>
              </a:lnSpc>
              <a:buNone/>
            </a:pPr>
            <a:r>
              <a:rPr lang="en-US" sz="28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Критичные аппараты при одиночном отказе:</a:t>
            </a:r>
            <a:endParaRPr lang="en-US" sz="2800" dirty="0"/>
          </a:p>
          <a:p>
            <a:pPr indent="0" marL="0">
              <a:lnSpc>
                <a:spcPts val="3304"/>
              </a:lnSpc>
              <a:buNone/>
            </a:pPr>
            <a:r>
              <a:rPr lang="en-US" sz="28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leave-one-out по всем 48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651760"/>
            <a:ext cx="6583680" cy="621792"/>
          </a:xfrm>
          <a:prstGeom prst="roundRect">
            <a:avLst>
              <a:gd name="adj" fmla="val 7353"/>
            </a:avLst>
          </a:prstGeom>
          <a:solidFill>
            <a:srgbClr val="232B5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889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011680" y="281635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№1 критичности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480560" y="281635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Δmin 2,36 п.п.  ·  45 клиент-отсчетов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429000"/>
            <a:ext cx="6583680" cy="621792"/>
          </a:xfrm>
          <a:prstGeom prst="roundRect">
            <a:avLst>
              <a:gd name="adj" fmla="val 7353"/>
            </a:avLst>
          </a:prstGeom>
          <a:solidFill>
            <a:srgbClr val="1B224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5661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011680" y="359359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№2, самый загруженный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480560" y="359359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Δmin 2,36 п.п.  ·  43 клиент-отсчета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206240"/>
            <a:ext cx="6583680" cy="621792"/>
          </a:xfrm>
          <a:prstGeom prst="roundRect">
            <a:avLst>
              <a:gd name="adj" fmla="val 7353"/>
            </a:avLst>
          </a:prstGeom>
          <a:solidFill>
            <a:srgbClr val="1B224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3434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S16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11680" y="437083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№3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480560" y="437083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Δmin 2,36 п.п.  ·  42 клиент-отсчета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5166360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Мы не называем лидера single point of failure: сеть после его отказа продолжает работать — но именно он создает наибольший риск для минимальной доступности.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635240" y="2377440"/>
            <a:ext cx="3977640" cy="3566160"/>
          </a:xfrm>
          <a:prstGeom prst="roundRect">
            <a:avLst>
              <a:gd name="adj" fmla="val 1795"/>
            </a:avLst>
          </a:prstGeom>
          <a:solidFill>
            <a:srgbClr val="1B224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2606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Резервные пути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955280" y="3063240"/>
            <a:ext cx="3429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второй путь без общих внутренних спутников с основным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есть в 17–38% подключенного времени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переключения маршрута — аналитика, не ограничение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 kosmo-nizni_klodiki_148   ·   gitverse.ru/hackrus.experts/kosmo-nizni_klodiki_148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· РАЗВИТИЕ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40"/>
              </a:lnSpc>
              <a:buNone/>
            </a:pPr>
            <a:r>
              <a:rPr lang="en-US" sz="30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за рамками базовой модели —</a:t>
            </a:r>
            <a:endParaRPr lang="en-US" sz="3000" dirty="0"/>
          </a:p>
          <a:p>
            <a:pPr indent="0" marL="0">
              <a:lnSpc>
                <a:spcPts val="3540"/>
              </a:lnSpc>
              <a:buNone/>
            </a:pPr>
            <a:r>
              <a:rPr lang="en-US" sz="30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следующим шагом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569464"/>
            <a:ext cx="109728" cy="109728"/>
          </a:xfrm>
          <a:prstGeom prst="ellipse">
            <a:avLst/>
          </a:prstGeom>
          <a:solidFill>
            <a:srgbClr val="9BA3F5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4688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Рельеф и застройка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site-specific horizon mask поверх официальной модели возвышения — без изменения ядра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529584"/>
            <a:ext cx="109728" cy="109728"/>
          </a:xfrm>
          <a:prstGeom prst="ellipse">
            <a:avLst/>
          </a:prstGeom>
          <a:solidFill>
            <a:srgbClr val="6E76D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4290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Пропускная способность и задержки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14400" y="37490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исходной постановке нет данных каналов; добавляется расширением метрики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4489704"/>
            <a:ext cx="109728" cy="109728"/>
          </a:xfrm>
          <a:prstGeom prst="ellipse">
            <a:avLst/>
          </a:prstGeom>
          <a:solidFill>
            <a:srgbClr val="6E76D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3891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Энергетика (sunlight)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14400" y="47091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модели батарей и критерия энергетического отказа — не отключаем аппараты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5449824"/>
            <a:ext cx="109728" cy="109728"/>
          </a:xfrm>
          <a:prstGeom prst="ellipse">
            <a:avLst/>
          </a:prstGeom>
          <a:solidFill>
            <a:srgbClr val="6E76D6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349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Большие группировки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14400" y="56692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движок принимает произвольную структуру сценария; проверен на синтетике с другой геометрией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официальная модель воспроизводима: регрессионные тесты не дают тихо изменить расчет   ·   Команда kosmo-nizni_klodiki_148   ·   gitverse.ru/hackrus.experts/kosmo-nizni_klodiki_148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Устойчивая спутниковая группировка — защита</dc:title>
  <dc:subject>PptxGenJS Presentation</dc:subject>
  <dc:creator>Команда kosmo-nizni_klodiki_148</dc:creator>
  <cp:lastModifiedBy>Команда kosmo-nizni_klodiki_148</cp:lastModifiedBy>
  <cp:revision>1</cp:revision>
  <dcterms:created xsi:type="dcterms:W3CDTF">2026-09-13T10:51:25Z</dcterms:created>
  <dcterms:modified xsi:type="dcterms:W3CDTF">2026-09-13T10:51:25Z</dcterms:modified>
</cp:coreProperties>
</file>