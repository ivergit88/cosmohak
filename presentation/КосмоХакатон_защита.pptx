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C65</c:v>
                </c:pt>
              </c:strCache>
            </c:strRef>
          </c:tx>
          <c:spPr>
            <a:solidFill>
              <a:srgbClr val="1450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Полная
группировка</c:v>
                  </c:pt>
                  <c:pt idx="1">
                    <c:v>1-я очередь</c:v>
                  </c:pt>
                  <c:pt idx="2">
                    <c:v>10 отказов</c:v>
                  </c:pt>
                  <c:pt idx="3">
                    <c:v>МСC 2000 км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96.67</c:v>
                </c:pt>
                <c:pt idx="1">
                  <c:v>27.22</c:v>
                </c:pt>
                <c:pt idx="2">
                  <c:v>79.31</c:v>
                </c:pt>
                <c:pt idx="3">
                  <c:v>77.5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C70</c:v>
                </c:pt>
              </c:strCache>
            </c:strRef>
          </c:tx>
          <c:spPr>
            <a:solidFill>
              <a:srgbClr val="3B7A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Полная
группировка</c:v>
                  </c:pt>
                  <c:pt idx="1">
                    <c:v>1-я очередь</c:v>
                  </c:pt>
                  <c:pt idx="2">
                    <c:v>10 отказов</c:v>
                  </c:pt>
                  <c:pt idx="3">
                    <c:v>МСC 2000 км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98.75</c:v>
                </c:pt>
                <c:pt idx="1">
                  <c:v>15.83</c:v>
                </c:pt>
                <c:pt idx="2">
                  <c:v>80.83</c:v>
                </c:pt>
                <c:pt idx="3">
                  <c:v>62.22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C72</c:v>
                </c:pt>
              </c:strCache>
            </c:strRef>
          </c:tx>
          <c:spPr>
            <a:solidFill>
              <a:srgbClr val="F2A00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Полная
группировка</c:v>
                  </c:pt>
                  <c:pt idx="1">
                    <c:v>1-я очередь</c:v>
                  </c:pt>
                  <c:pt idx="2">
                    <c:v>10 отказов</c:v>
                  </c:pt>
                  <c:pt idx="3">
                    <c:v>МСC 2000 км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98.89</c:v>
                </c:pt>
                <c:pt idx="1">
                  <c:v>12.64</c:v>
                </c:pt>
                <c:pt idx="2">
                  <c:v>82.5</c:v>
                </c:pt>
                <c:pt idx="3">
                  <c:v>65.14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Цель 90%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Полная
группировка</c:v>
                  </c:pt>
                  <c:pt idx="1">
                    <c:v>1-я очередь</c:v>
                  </c:pt>
                  <c:pt idx="2">
                    <c:v>10 отказов</c:v>
                  </c:pt>
                  <c:pt idx="3">
                    <c:v>МСC 2000 км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F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3108960"/>
            <a:ext cx="8686800" cy="8686800"/>
          </a:xfrm>
          <a:prstGeom prst="ellipse">
            <a:avLst/>
          </a:prstGeom>
          <a:ln w="17780">
            <a:solidFill>
              <a:srgbClr val="3B7AB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1737360"/>
            <a:ext cx="5943600" cy="5943600"/>
          </a:xfrm>
          <a:prstGeom prst="ellipse">
            <a:avLst/>
          </a:prstGeom>
          <a:ln w="13970">
            <a:solidFill>
              <a:srgbClr val="3B7AB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10928" y="1481328"/>
            <a:ext cx="182880" cy="18288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5" name="Shape 3"/>
          <p:cNvSpPr/>
          <p:nvPr/>
        </p:nvSpPr>
        <p:spPr>
          <a:xfrm>
            <a:off x="7360920" y="4663440"/>
            <a:ext cx="118872" cy="118872"/>
          </a:xfrm>
          <a:prstGeom prst="ellipse">
            <a:avLst/>
          </a:prstGeom>
          <a:solidFill>
            <a:srgbClr val="9FC0D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КОСМОХАКАТОН 2026 · КЕЙС «ПРОЕКТИРОВАНИЕ УСТОЙЧИВОЙ СПУТНИКОВОЙ ГРУППИРОВКИ»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Веб-сервис проектирования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оценки доступности связи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спутников · 550 км · 3 очереди запуска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кейса: доступность связи ≥ 90% расчётного времени для каждого северного пункта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2926080" cy="0"/>
          </a:xfrm>
          <a:prstGeom prst="line">
            <a:avLst/>
          </a:prstGeom>
          <a:noFill/>
          <a:ln w="31750">
            <a:solidFill>
              <a:srgbClr val="F2A0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230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github.com/ivergit88/cosmohak   ·   streamlit run app.py   ·   docker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Официальный geometry.py — в основе расчётов · 83 автотеста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Видимость спутника ≠ доставка до шлюза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спутников на орбите 550 км,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в 3 очереди по 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1600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отсчётов расчётной сетки: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сутки с шагом 120 секунд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16002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3816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доступность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каждого из пунктов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1672" cy="0"/>
          </a:xfrm>
          <a:prstGeom prst="line">
            <a:avLst/>
          </a:prstGeom>
          <a:noFill/>
          <a:ln w="12700">
            <a:solidFill>
              <a:srgbClr val="9FC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ломает связь — и что должен показывать сервис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«пункт → спутники → шлюз» рвётся при движении аппаратов — даже когда спутник виден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отказ затрагивает сразу несколько направлений; на ранних очередях развёртывания всё хуже</a:t>
            </a:r>
            <a:endParaRPr lang="en-US" sz="16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Инженеру нужно сравнивать конфигурации на одном периоде и объяснять перерывы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«Постановка задачи» и «Описание данных», КосмоХакатон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инженера в одном сервисе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75488" cy="475488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15568" y="2020824"/>
            <a:ext cx="1207008" cy="0"/>
          </a:xfrm>
          <a:prstGeom prst="line">
            <a:avLst/>
          </a:prstGeom>
          <a:noFill/>
          <a:ln w="19050">
            <a:solidFill>
              <a:srgbClr val="9FC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сценария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cosmo-A-1.0; валидация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понятными ошибками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41448" y="1783080"/>
            <a:ext cx="475488" cy="475488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2" name="Text 10"/>
          <p:cNvSpPr/>
          <p:nvPr/>
        </p:nvSpPr>
        <p:spPr>
          <a:xfrm>
            <a:off x="244144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08376" y="2020824"/>
            <a:ext cx="1207008" cy="0"/>
          </a:xfrm>
          <a:prstGeom prst="line">
            <a:avLst/>
          </a:prstGeom>
          <a:noFill/>
          <a:ln w="19050">
            <a:solidFill>
              <a:srgbClr val="9FC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31720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развёртывания, RAAN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фазирование, отказы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4256" y="1783080"/>
            <a:ext cx="475488" cy="475488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7" name="Text 15"/>
          <p:cNvSpPr/>
          <p:nvPr/>
        </p:nvSpPr>
        <p:spPr>
          <a:xfrm>
            <a:off x="4334256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01184" y="2020824"/>
            <a:ext cx="1207008" cy="0"/>
          </a:xfrm>
          <a:prstGeom prst="line">
            <a:avLst/>
          </a:prstGeom>
          <a:noFill/>
          <a:ln w="19050">
            <a:solidFill>
              <a:srgbClr val="9FC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сети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24528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 отсчётов: позиции,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видимость, связи, ~0.5 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27064" y="1783080"/>
            <a:ext cx="475488" cy="475488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22" name="Text 20"/>
          <p:cNvSpPr/>
          <p:nvPr/>
        </p:nvSpPr>
        <p:spPr>
          <a:xfrm>
            <a:off x="6227064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93992" y="2020824"/>
            <a:ext cx="1207008" cy="0"/>
          </a:xfrm>
          <a:prstGeom prst="line">
            <a:avLst/>
          </a:prstGeom>
          <a:noFill/>
          <a:ln w="19050">
            <a:solidFill>
              <a:srgbClr val="9FC0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17336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→ спутники → шлюз;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каждого перерыва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19872" y="1783080"/>
            <a:ext cx="475488" cy="475488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27" name="Text 25"/>
          <p:cNvSpPr/>
          <p:nvPr/>
        </p:nvSpPr>
        <p:spPr>
          <a:xfrm>
            <a:off x="811987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686800" y="2020824"/>
            <a:ext cx="1207008" cy="0"/>
          </a:xfrm>
          <a:prstGeom prst="line">
            <a:avLst/>
          </a:prstGeom>
          <a:noFill/>
          <a:ln w="19050">
            <a:solidFill>
              <a:srgbClr val="9FC0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0144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10144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 A/B, критичность,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 с цифрами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12680" y="1783080"/>
            <a:ext cx="475488" cy="475488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32" name="Text 30"/>
          <p:cNvSpPr/>
          <p:nvPr/>
        </p:nvSpPr>
        <p:spPr>
          <a:xfrm>
            <a:off x="100126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02952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02952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JSON (2160 маршрутов),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scenario, CSV — реимпорт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A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45720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Скрытый сценарий жюри — без правок кода. </a:t>
            </a:r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один ID (C65, G_MUR, S01…) и ни одно число не захардкожены: состав, плоскости и параметры целиком читаются из файла. Проверено на синтетическом сценарии с 5 плоскостями, 2 шлюзами и незнакомыми идентификаторами.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СЧИТАЕМ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модель + детерминизм маршрутов</a:t>
            </a:r>
            <a:endParaRPr lang="en-US" sz="3000" dirty="0"/>
          </a:p>
        </p:txBody>
      </p:sp>
      <p:pic>
        <p:nvPicPr>
          <p:cNvPr id="6" name="Image 0" descr="C:\Users\Administrator\Desktop\cosmohak\presentation\img\ui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600200"/>
            <a:ext cx="5513832" cy="3447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5120640"/>
            <a:ext cx="5513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3D-сцена сервиса: Земля, 48 аппаратов, связи и маршрут в выбранный момент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700784"/>
            <a:ext cx="128016" cy="128016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Геометрия — только официальная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193852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координаты, видимость и связи из geometry.py организаторов; parity-тесты подтверждают совпадение с формулами «Описания данных»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779776"/>
            <a:ext cx="128016" cy="128016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Сетка и отказы — по документу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41248" y="301752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 отсчётов (правый конец не включается), интервалы [start; end)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85876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730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— детерминированный BFS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41248" y="409651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минимум рёбер, при равенстве — лексикографически наименьший путь; наземные узлы не ретранслируют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937760"/>
            <a:ext cx="128016" cy="128016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" y="48097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перерыв имеет причину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41248" y="517550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видимого спутника · шлюз в отказе · нет контакта шлюза · разрыв межспутниковой сети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Расчётный модуль geometry.py предоставлен организаторами; маршрутизация, аналитика и интерфейс — работа команды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сценария: от идеала до стресс-тестов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86384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и худший перерыв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группировка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96.7–98.9%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доступность ·  перерыв 2–8 мин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2770632"/>
            <a:ext cx="3749040" cy="0"/>
          </a:xfrm>
          <a:prstGeom prst="line">
            <a:avLst/>
          </a:prstGeom>
          <a:noFill/>
          <a:ln w="12700">
            <a:solidFill>
              <a:srgbClr val="DFE7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1-я очередь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0" y="3264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12.6–27.2%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доступность ·  перерыв до 13.3 ч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3703320"/>
            <a:ext cx="3749040" cy="0"/>
          </a:xfrm>
          <a:prstGeom prst="line">
            <a:avLst/>
          </a:prstGeom>
          <a:noFill/>
          <a:ln w="12700">
            <a:solidFill>
              <a:srgbClr val="DFE7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отказов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63840" y="41970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79.3–82.5%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доступность ·  перерыв 20–24 мин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863840" y="4636008"/>
            <a:ext cx="3749040" cy="0"/>
          </a:xfrm>
          <a:prstGeom prst="line">
            <a:avLst/>
          </a:prstGeom>
          <a:noFill/>
          <a:ln w="12700">
            <a:solidFill>
              <a:srgbClr val="DFE7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4855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МСC 2000 км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63840" y="5129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62.2–77.5%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доступность ·  перерыв 4 мин–3 ч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команды: официальный geometry.py, сетка 720 отсчётов, стратегия мин. переходов; числа зафиксированы регрессионными тестами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УСТОЙЧИВОСТЬ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Отказы: кто ломает сеть и почему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S44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критичный аппарат полной группировки: его виртуальный отказ сильнее всего роняет минимальную доступность по пунктам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Топ-10 уязвимостей считается за один проход по сетке — без пересчёта орбит; отказ применяется к сценарию прямо из таблицы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73152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3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874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 инженер при каждом отказе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441448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23225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разрыва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2633472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категории: нет видимого спутника / шлюз в отказе / нет контакта шлюза / разрыв ISL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337560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32186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Перестроение маршрута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956048" y="3529584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путь или новый перерыв с точным интервалом [начало; конец)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4233672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4114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по каждому пункту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56048" y="4425696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 «что если»: доступность и перерывы до/после отказа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5129784"/>
            <a:ext cx="118872" cy="118872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50109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Резервные пути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56048" y="5321808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node-disjoint резерв и его доля по времени — оценка запаса прочности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без «магических» весов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 минимальной доступности по пунктам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1568" y="1645920"/>
            <a:ext cx="420624" cy="420624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0208" y="1572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максимум средней доступности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54496" y="1645920"/>
            <a:ext cx="420624" cy="420624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03136" y="1572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минимум худшего перерыва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07424" y="1645920"/>
            <a:ext cx="420624" cy="420624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6" name="Text 14"/>
          <p:cNvSpPr/>
          <p:nvPr/>
        </p:nvSpPr>
        <p:spPr>
          <a:xfrm>
            <a:off x="9107424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6064" y="1572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минимум среднего числа переходов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90779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по проекту: </a:t>
            </a:r>
            <a:pPr indent="0" marL="0">
              <a:buNone/>
            </a:pPr>
            <a:r>
              <a:rPr lang="en-US" sz="150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≥90% для всех северных пунктов достигается только полной группировкой (этап 3) при дальности МСC 3000 км — 96.7–98.9%. Ранняя очередь (этап 1) даёт лишь 12.6–27.2% с перерывами до 13 часов; ограничение МСC 2000 км снижает доступность до 62–78% — узкое место deliveries C70/C72.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425696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343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группировка (этап 3)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343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из 3 пунктов достигают цели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4937760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8554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аппаратов в отказе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8554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из 3 · падение на ~17 п.п.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449824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367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МСC 2000 км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5367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из 3 · узкие места C70 и C72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5961888"/>
            <a:ext cx="109728" cy="109728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8795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Смещение RAAN/фазирования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58795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оценивается автоподбором за 20–60 прогонов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 строится по фактически рассчитанным метрикам; обоснование выводится в интерфейсе вместе с вариантом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на одном экране — без чтения документации</a:t>
            </a:r>
            <a:endParaRPr lang="en-US" sz="3000" dirty="0"/>
          </a:p>
        </p:txBody>
      </p:sp>
      <p:pic>
        <p:nvPicPr>
          <p:cNvPr id="4" name="Image 0" descr="C:\Users\Administrator\Desktop\cosmohak\presentation\img\ui_overview.png">    </p:cNvPr>
          <p:cNvPicPr>
            <a:picLocks noChangeAspect="1"/>
          </p:cNvPicPr>
          <p:nvPr/>
        </p:nvPicPr>
        <p:blipFill>
          <a:blip r:embed="rId1"/>
          <a:srcRect l="5" r="5" t="0" b="0"/>
          <a:stretch/>
        </p:blipFill>
        <p:spPr>
          <a:xfrm>
            <a:off x="548640" y="1572768"/>
            <a:ext cx="832104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192024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Дашборд: карточки пунктов с целевым уровнем, шкала состояний, карта треков, таблица метрик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98280" y="44805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Вкладки: Обзор · Сеть и время · Сравнение · Устойчивость · Экспорт · Методика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ИНЖЕНЕРНОЕ КАЧЕСТВО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Проверяемо, воспроизводимо, готово к запуску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автотеста: валидация, границы отказов,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маршрутизация, метрики, экспорт, UI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01568" y="1737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401568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движка геометрии: официальный модуль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формулы документа — parity-тесты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54496" y="1737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254496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маршрутов в экспорте cosmo-A-result-1.0: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путь валиден в свой момент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07424" y="17373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45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107424" y="2743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на запуск: streamlit run app.py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docker run — без API-ключей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12700">
            <a:solidFill>
              <a:srgbClr val="9FC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Воспроизводимость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регрессионные числа зафиксированы тестами по всем 4 сценариям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экспортированный effective_scenario загружается обратно и проходит полную валидацию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детерминизм: те же входные данные дают бит-в-бит тот же результат (проверено тестами)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9811512" y="-1371600"/>
            <a:ext cx="3108960" cy="2194560"/>
          </a:xfrm>
          <a:prstGeom prst="ellipse">
            <a:avLst/>
          </a:prstGeom>
          <a:ln w="15240">
            <a:solidFill>
              <a:srgbClr val="9FC0DC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84048"/>
            <a:ext cx="128016" cy="128016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7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~3 МИНУТЫ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Живой сценарий для жюри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17647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группировка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21122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96.7–98.9%, цель достигнута всеми пунктами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457200" cy="457200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85432" y="17647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и время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85432" y="21122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в 3D, слайдер времени, прыжок к перерыву и его причина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70432" y="3182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 →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352958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пересчёт: доступность 12.6–27.2%, перерывы до 13 часов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85432" y="3182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спутника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5432" y="352958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добавляем отказ из маршрута — перестроение или перерыв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14507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" y="4599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70432" y="494690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варианта: различия конфигурации, Δ метрик, рекомендация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663440"/>
            <a:ext cx="457200" cy="457200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85432" y="4599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85432" y="494690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JSON на 2160 маршрутов и повторная загрузка сценария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2194560"/>
            <a:ext cx="8686800" cy="8686800"/>
          </a:xfrm>
          <a:prstGeom prst="ellipse">
            <a:avLst/>
          </a:prstGeom>
          <a:ln w="16510">
            <a:solidFill>
              <a:srgbClr val="3B7AB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5532120"/>
            <a:ext cx="146304" cy="146304"/>
          </a:xfrm>
          <a:prstGeom prst="ellipse">
            <a:avLst/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 КОМАНДЫ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Развёртывать все три очереди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держать МСC 3000 км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эта конфигурация закрывает цель ≥90% для всех северных пунктов (96.7–98.9%)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F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узкие места известны и измерены: критичные аппараты, перерывы по причинам, резерв путей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2926080" cy="0"/>
          </a:xfrm>
          <a:prstGeom prst="line">
            <a:avLst/>
          </a:prstGeom>
          <a:noFill/>
          <a:ln w="31750">
            <a:solidFill>
              <a:srgbClr val="F2A0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A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github.com/ivergit88/cosmohak — публичный репозиторий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-m venv .venv · pip install -r requirements.txt · streamlit run app.py   |   docker run -p 8501:8501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Устойчивая спутниковая группировка — защита решения</dc:title>
  <dc:subject>PptxGenJS Presentation</dc:subject>
  <dc:creator>Команда КосмоХакатона</dc:creator>
  <cp:lastModifiedBy>Команда КосмоХакатона</cp:lastModifiedBy>
  <cp:revision>1</cp:revision>
  <dcterms:created xsi:type="dcterms:W3CDTF">2026-09-12T00:11:17Z</dcterms:created>
  <dcterms:modified xsi:type="dcterms:W3CDTF">2026-09-12T00:11:17Z</dcterms:modified>
</cp:coreProperties>
</file>