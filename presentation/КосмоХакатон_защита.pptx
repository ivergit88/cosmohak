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C65</c:v>
                </c:pt>
              </c:strCache>
            </c:strRef>
          </c:tx>
          <c:spPr>
            <a:solidFill>
              <a:srgbClr val="14507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Полная
группировка</c:v>
                  </c:pt>
                  <c:pt idx="1">
                    <c:v>1-я очередь</c:v>
                  </c:pt>
                  <c:pt idx="2">
                    <c:v>10 отказов</c:v>
                  </c:pt>
                  <c:pt idx="3">
                    <c:v>МСC 2000 км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96.67</c:v>
                </c:pt>
                <c:pt idx="1">
                  <c:v>27.22</c:v>
                </c:pt>
                <c:pt idx="2">
                  <c:v>79.31</c:v>
                </c:pt>
                <c:pt idx="3">
                  <c:v>77.5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C70</c:v>
                </c:pt>
              </c:strCache>
            </c:strRef>
          </c:tx>
          <c:spPr>
            <a:solidFill>
              <a:srgbClr val="3B7AB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Полная
группировка</c:v>
                  </c:pt>
                  <c:pt idx="1">
                    <c:v>1-я очередь</c:v>
                  </c:pt>
                  <c:pt idx="2">
                    <c:v>10 отказов</c:v>
                  </c:pt>
                  <c:pt idx="3">
                    <c:v>МСC 2000 км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98.75</c:v>
                </c:pt>
                <c:pt idx="1">
                  <c:v>15.83</c:v>
                </c:pt>
                <c:pt idx="2">
                  <c:v>80.83</c:v>
                </c:pt>
                <c:pt idx="3">
                  <c:v>62.22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C72</c:v>
                </c:pt>
              </c:strCache>
            </c:strRef>
          </c:tx>
          <c:spPr>
            <a:solidFill>
              <a:srgbClr val="F2A00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Полная
группировка</c:v>
                  </c:pt>
                  <c:pt idx="1">
                    <c:v>1-я очередь</c:v>
                  </c:pt>
                  <c:pt idx="2">
                    <c:v>10 отказов</c:v>
                  </c:pt>
                  <c:pt idx="3">
                    <c:v>МСC 2000 км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98.89</c:v>
                </c:pt>
                <c:pt idx="1">
                  <c:v>12.64</c:v>
                </c:pt>
                <c:pt idx="2">
                  <c:v>82.5</c:v>
                </c:pt>
                <c:pt idx="3">
                  <c:v>65.14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lineChart>
        <c:varyColors val="0"/>
        <c:ser>
          <c:idx val="3"/>
          <c:order val="3"/>
          <c:tx>
            <c:strRef>
              <c:f>Sheet1!$E$1</c:f>
              <c:strCache>
                <c:ptCount val="1"/>
                <c:pt idx="0">
                  <c:v>Цель 90%</c:v>
                </c:pt>
              </c:strCache>
            </c:strRef>
          </c:tx>
          <c:spPr>
            <a:solidFill>
              <a:srgbClr val="C62828"/>
            </a:solidFill>
            <a:ln w="25400" cap="flat">
              <a:solidFill>
                <a:srgbClr val="C62828"/>
              </a:solidFill>
              <a:prstDash val="dash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C62828"/>
              </a:solidFill>
              <a:ln w="9525" cap="flat">
                <a:solidFill>
                  <a:srgbClr val="C6282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Полная
группировка</c:v>
                  </c:pt>
                  <c:pt idx="1">
                    <c:v>1-я очередь</c:v>
                  </c:pt>
                  <c:pt idx="2">
                    <c:v>10 отказов</c:v>
                  </c:pt>
                  <c:pt idx="3">
                    <c:v>МСC 2000 км</c:v>
                  </c:pt>
                </c:lvl>
              </c:multiLvlStrCache>
            </c:multiLvl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90</c:v>
                </c:pt>
                <c:pt idx="1">
                  <c:v>90</c:v>
                </c:pt>
                <c:pt idx="2">
                  <c:v>90</c:v>
                </c:pt>
                <c:pt idx="3">
                  <c:v>90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C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6350" cap="flat">
              <a:solidFill>
                <a:srgbClr val="DFE7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B7C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B6B7C"/>
              </a:solidFill>
            </a:defRPr>
          </a:pPr>
          <a:endParaRPr lang="en-US"/>
        </a:p>
      </c:txPr>
    </c:legend>
    <c:plotVisOnly val="1"/>
    <c:dispBlanksAs val="span"/>
  </c:chart>
  <c:spPr>
    <a:solidFill>
      <a:srgbClr val="F4F7FA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6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3108960"/>
            <a:ext cx="8686800" cy="8686800"/>
          </a:xfrm>
          <a:prstGeom prst="ellipse">
            <a:avLst/>
          </a:prstGeom>
          <a:ln w="17780">
            <a:solidFill>
              <a:srgbClr val="3B7AB8">
                <a:alpha val="6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-1737360"/>
            <a:ext cx="5943600" cy="5943600"/>
          </a:xfrm>
          <a:prstGeom prst="ellipse">
            <a:avLst/>
          </a:prstGeom>
          <a:ln w="13970">
            <a:solidFill>
              <a:srgbClr val="3B7AB8">
                <a:alpha val="4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710928" y="1481328"/>
            <a:ext cx="182880" cy="182880"/>
          </a:xfrm>
          <a:prstGeom prst="ellipse">
            <a:avLst/>
          </a:prstGeom>
          <a:solidFill>
            <a:srgbClr val="F2A007"/>
          </a:solidFill>
          <a:ln/>
        </p:spPr>
      </p:sp>
      <p:sp>
        <p:nvSpPr>
          <p:cNvPr id="5" name="Shape 3"/>
          <p:cNvSpPr/>
          <p:nvPr/>
        </p:nvSpPr>
        <p:spPr>
          <a:xfrm>
            <a:off x="7360920" y="4663440"/>
            <a:ext cx="118872" cy="118872"/>
          </a:xfrm>
          <a:prstGeom prst="ellipse">
            <a:avLst/>
          </a:prstGeom>
          <a:solidFill>
            <a:srgbClr val="9FC0DC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05156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9FC0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КОСМОХАКАТОН 2026 · КЕЙС «ПРОЕКТИРОВАНИЕ УСТОЙЧИВОЙ СПУТНИКОВОЙ ГРУППИРОВКИ»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1554480"/>
            <a:ext cx="102412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200"/>
              </a:lnSpc>
              <a:buNone/>
            </a:pPr>
            <a:r>
              <a:rPr lang="en-US" sz="4400" b="1" dirty="0">
                <a:solidFill>
                  <a:srgbClr val="EAF2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Веб-сервис проектирования</a:t>
            </a:r>
            <a:endParaRPr lang="en-US" sz="4400" dirty="0"/>
          </a:p>
          <a:p>
            <a:pPr indent="0" marL="0">
              <a:lnSpc>
                <a:spcPts val="5200"/>
              </a:lnSpc>
              <a:buNone/>
            </a:pPr>
            <a:r>
              <a:rPr lang="en-US" sz="4400" b="1" dirty="0">
                <a:solidFill>
                  <a:srgbClr val="EAF2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 оценки доступности связи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548640" y="3703320"/>
            <a:ext cx="8778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rgbClr val="8FA5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48 спутников · 550 км · 3 очереди запуска</a:t>
            </a:r>
            <a:endParaRPr lang="en-US" sz="17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rgbClr val="8FA5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Цель кейса: доступность связи ≥ 90% расчётного времени для каждого северного пункта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548640" y="5029200"/>
            <a:ext cx="2926080" cy="0"/>
          </a:xfrm>
          <a:prstGeom prst="line">
            <a:avLst/>
          </a:prstGeom>
          <a:noFill/>
          <a:ln w="31750">
            <a:solidFill>
              <a:srgbClr val="F2A00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" y="5230368"/>
            <a:ext cx="9601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9FC0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github.com/ivergit88/cosmohak   ·   streamlit run app.py   ·   docker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9FC0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Официальный geometry.py — в основе расчётов · 83 автотеста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1080000">
            <a:off x="9811512" y="-1371600"/>
            <a:ext cx="3108960" cy="2194560"/>
          </a:xfrm>
          <a:prstGeom prst="ellipse">
            <a:avLst/>
          </a:prstGeom>
          <a:ln w="15240">
            <a:solidFill>
              <a:srgbClr val="9FC0DC">
                <a:alpha val="9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18520" y="384048"/>
            <a:ext cx="128016" cy="128016"/>
          </a:xfrm>
          <a:prstGeom prst="ellipse">
            <a:avLst/>
          </a:prstGeom>
          <a:solidFill>
            <a:srgbClr val="F2A007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38404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B7A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ЗАДАЧА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676656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Видимость спутника ≠ доставка до шлюза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48640" y="1600200"/>
            <a:ext cx="3383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1450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48</a:t>
            </a:r>
            <a:endParaRPr lang="en-US" sz="6000" dirty="0"/>
          </a:p>
        </p:txBody>
      </p:sp>
      <p:sp>
        <p:nvSpPr>
          <p:cNvPr id="7" name="Text 5"/>
          <p:cNvSpPr/>
          <p:nvPr/>
        </p:nvSpPr>
        <p:spPr>
          <a:xfrm>
            <a:off x="548640" y="2697480"/>
            <a:ext cx="3383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спутников на орбите 550 км,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запуск в 3 очереди по 16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343400" y="1600200"/>
            <a:ext cx="3383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1450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720</a:t>
            </a:r>
            <a:endParaRPr lang="en-US" sz="6000" dirty="0"/>
          </a:p>
        </p:txBody>
      </p:sp>
      <p:sp>
        <p:nvSpPr>
          <p:cNvPr id="9" name="Text 7"/>
          <p:cNvSpPr/>
          <p:nvPr/>
        </p:nvSpPr>
        <p:spPr>
          <a:xfrm>
            <a:off x="4343400" y="2697480"/>
            <a:ext cx="3383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отсчётов расчётной сетки: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сутки с шагом 120 секунд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138160" y="1600200"/>
            <a:ext cx="3383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2A00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≥90%</a:t>
            </a:r>
            <a:endParaRPr lang="en-US" sz="6000" dirty="0"/>
          </a:p>
        </p:txBody>
      </p:sp>
      <p:sp>
        <p:nvSpPr>
          <p:cNvPr id="11" name="Text 9"/>
          <p:cNvSpPr/>
          <p:nvPr/>
        </p:nvSpPr>
        <p:spPr>
          <a:xfrm>
            <a:off x="8138160" y="2697480"/>
            <a:ext cx="3383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целевая доступность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для каждого из пунктов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3657600"/>
            <a:ext cx="11091672" cy="0"/>
          </a:xfrm>
          <a:prstGeom prst="line">
            <a:avLst/>
          </a:prstGeom>
          <a:noFill/>
          <a:ln w="12700">
            <a:solidFill>
              <a:srgbClr val="9FC0D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38404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Что ломает связь — и что должен показывать сервис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48640" y="4251960"/>
            <a:ext cx="110642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1000"/>
              </a:spcAft>
              <a:buSzPct val="100000"/>
              <a:buChar char="▸"/>
            </a:pPr>
            <a:r>
              <a:rPr lang="en-US" sz="1600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Маршрут «пункт → спутники → шлюз» рвётся при движении аппаратов — даже когда спутник виден</a:t>
            </a:r>
            <a:endParaRPr lang="en-US" sz="1600" dirty="0"/>
          </a:p>
          <a:p>
            <a:pPr marL="152400" indent="-152400">
              <a:spcAft>
                <a:spcPts val="1000"/>
              </a:spcAft>
              <a:buSzPct val="100000"/>
              <a:buChar char="▸"/>
            </a:pPr>
            <a:r>
              <a:rPr lang="en-US" sz="1600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Один отказ затрагивает сразу несколько направлений; на ранних очередях развёртывания всё хуже</a:t>
            </a:r>
            <a:endParaRPr lang="en-US" sz="1600" dirty="0"/>
          </a:p>
          <a:p>
            <a:pPr marL="152400" indent="-152400">
              <a:spcAft>
                <a:spcPts val="1000"/>
              </a:spcAft>
              <a:buSzPct val="100000"/>
              <a:buChar char="▸"/>
            </a:pPr>
            <a:r>
              <a:rPr lang="en-US" sz="1600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Инженеру нужно сравнивать конфигурации на одном периоде и объяснять перерывы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48640" y="647395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Источник: «Постановка задачи» и «Описание данных», КосмоХакатон 2026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1080000">
            <a:off x="9811512" y="-1371600"/>
            <a:ext cx="3108960" cy="2194560"/>
          </a:xfrm>
          <a:prstGeom prst="ellipse">
            <a:avLst/>
          </a:prstGeom>
          <a:ln w="15240">
            <a:solidFill>
              <a:srgbClr val="9FC0DC">
                <a:alpha val="9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18520" y="384048"/>
            <a:ext cx="128016" cy="128016"/>
          </a:xfrm>
          <a:prstGeom prst="ellipse">
            <a:avLst/>
          </a:prstGeom>
          <a:solidFill>
            <a:srgbClr val="F2A007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38404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B7A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РЕШЕНИЕ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676656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Полный цикл инженера в одном сервисе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48640" y="1783080"/>
            <a:ext cx="475488" cy="475488"/>
          </a:xfrm>
          <a:prstGeom prst="ellipse">
            <a:avLst/>
          </a:prstGeom>
          <a:solidFill>
            <a:srgbClr val="14507E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178308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1115568" y="2020824"/>
            <a:ext cx="1207008" cy="0"/>
          </a:xfrm>
          <a:prstGeom prst="line">
            <a:avLst/>
          </a:prstGeom>
          <a:noFill/>
          <a:ln w="19050">
            <a:solidFill>
              <a:srgbClr val="9FC0D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38912" y="242316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Загрузка сценария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38912" y="2926080"/>
            <a:ext cx="1828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JSON cosmo-A-1.0; валидация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 понятными ошибками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2441448" y="1783080"/>
            <a:ext cx="475488" cy="475488"/>
          </a:xfrm>
          <a:prstGeom prst="ellipse">
            <a:avLst/>
          </a:prstGeom>
          <a:solidFill>
            <a:srgbClr val="14507E"/>
          </a:solidFill>
          <a:ln/>
        </p:spPr>
      </p:sp>
      <p:sp>
        <p:nvSpPr>
          <p:cNvPr id="12" name="Text 10"/>
          <p:cNvSpPr/>
          <p:nvPr/>
        </p:nvSpPr>
        <p:spPr>
          <a:xfrm>
            <a:off x="2441448" y="178308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008376" y="2020824"/>
            <a:ext cx="1207008" cy="0"/>
          </a:xfrm>
          <a:prstGeom prst="line">
            <a:avLst/>
          </a:prstGeom>
          <a:noFill/>
          <a:ln w="19050">
            <a:solidFill>
              <a:srgbClr val="9FC0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331720" y="242316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Конфигурация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2331720" y="2926080"/>
            <a:ext cx="1828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этап развёртывания, RAAN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 фазирование, отказы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334256" y="1783080"/>
            <a:ext cx="475488" cy="475488"/>
          </a:xfrm>
          <a:prstGeom prst="ellipse">
            <a:avLst/>
          </a:prstGeom>
          <a:solidFill>
            <a:srgbClr val="14507E"/>
          </a:solidFill>
          <a:ln/>
        </p:spPr>
      </p:sp>
      <p:sp>
        <p:nvSpPr>
          <p:cNvPr id="17" name="Text 15"/>
          <p:cNvSpPr/>
          <p:nvPr/>
        </p:nvSpPr>
        <p:spPr>
          <a:xfrm>
            <a:off x="4334256" y="178308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4901184" y="2020824"/>
            <a:ext cx="1207008" cy="0"/>
          </a:xfrm>
          <a:prstGeom prst="line">
            <a:avLst/>
          </a:prstGeom>
          <a:noFill/>
          <a:ln w="19050">
            <a:solidFill>
              <a:srgbClr val="9FC0D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224528" y="242316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Расчёт сети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4224528" y="2926080"/>
            <a:ext cx="1828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720 отсчётов: позиции,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видимость, связи, ~0.5 с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227064" y="1783080"/>
            <a:ext cx="475488" cy="475488"/>
          </a:xfrm>
          <a:prstGeom prst="ellipse">
            <a:avLst/>
          </a:prstGeom>
          <a:solidFill>
            <a:srgbClr val="14507E"/>
          </a:solidFill>
          <a:ln/>
        </p:spPr>
      </p:sp>
      <p:sp>
        <p:nvSpPr>
          <p:cNvPr id="22" name="Text 20"/>
          <p:cNvSpPr/>
          <p:nvPr/>
        </p:nvSpPr>
        <p:spPr>
          <a:xfrm>
            <a:off x="6227064" y="178308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6793992" y="2020824"/>
            <a:ext cx="1207008" cy="0"/>
          </a:xfrm>
          <a:prstGeom prst="line">
            <a:avLst/>
          </a:prstGeom>
          <a:noFill/>
          <a:ln w="19050">
            <a:solidFill>
              <a:srgbClr val="9FC0D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117336" y="242316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Маршруты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6117336" y="2926080"/>
            <a:ext cx="1828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клиент → спутники → шлюз;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причина каждого перерыва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8119872" y="1783080"/>
            <a:ext cx="475488" cy="475488"/>
          </a:xfrm>
          <a:prstGeom prst="ellipse">
            <a:avLst/>
          </a:prstGeom>
          <a:solidFill>
            <a:srgbClr val="14507E"/>
          </a:solidFill>
          <a:ln/>
        </p:spPr>
      </p:sp>
      <p:sp>
        <p:nvSpPr>
          <p:cNvPr id="27" name="Text 25"/>
          <p:cNvSpPr/>
          <p:nvPr/>
        </p:nvSpPr>
        <p:spPr>
          <a:xfrm>
            <a:off x="8119872" y="178308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8686800" y="2020824"/>
            <a:ext cx="1207008" cy="0"/>
          </a:xfrm>
          <a:prstGeom prst="line">
            <a:avLst/>
          </a:prstGeom>
          <a:noFill/>
          <a:ln w="19050">
            <a:solidFill>
              <a:srgbClr val="9FC0D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010144" y="242316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Сравнение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8010144" y="2926080"/>
            <a:ext cx="1828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варианты A/B, критичность,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рекомендация с цифрами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10012680" y="1783080"/>
            <a:ext cx="475488" cy="475488"/>
          </a:xfrm>
          <a:prstGeom prst="ellipse">
            <a:avLst/>
          </a:prstGeom>
          <a:solidFill>
            <a:srgbClr val="F2A007"/>
          </a:solidFill>
          <a:ln/>
        </p:spPr>
      </p:sp>
      <p:sp>
        <p:nvSpPr>
          <p:cNvPr id="32" name="Text 30"/>
          <p:cNvSpPr/>
          <p:nvPr/>
        </p:nvSpPr>
        <p:spPr>
          <a:xfrm>
            <a:off x="10012680" y="178308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9902952" y="242316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Экспорт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9902952" y="2926080"/>
            <a:ext cx="1828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 JSON (2160 маршрутов),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scenario, CSV — реимпорт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548640" y="4343400"/>
            <a:ext cx="11091672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1B2A3A">
                <a:alpha val="14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868680" y="4572000"/>
            <a:ext cx="104241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Скрытый сценарий жюри — без правок кода. </a:t>
            </a:r>
            <a:pPr indent="0" marL="0">
              <a:buNone/>
            </a:pPr>
            <a:r>
              <a:rPr lang="en-US" sz="16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Ни один ID и ни одно число не захардкожены: состав, плоскости и параметры целиком читаются из файла. Валидация покрывает схему, диапазоны, типы и ссылки, указывая проблемное поле, — 44 граничных кейса в тестах; официальная geometry.validate — финальный рубеж.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1080000">
            <a:off x="9811512" y="-1371600"/>
            <a:ext cx="3108960" cy="2194560"/>
          </a:xfrm>
          <a:prstGeom prst="ellipse">
            <a:avLst/>
          </a:prstGeom>
          <a:ln w="15240">
            <a:solidFill>
              <a:srgbClr val="9FC0DC">
                <a:alpha val="9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18520" y="384048"/>
            <a:ext cx="128016" cy="128016"/>
          </a:xfrm>
          <a:prstGeom prst="ellipse">
            <a:avLst/>
          </a:prstGeom>
          <a:solidFill>
            <a:srgbClr val="F2A007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38404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B7A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КАК СЧИТАЕМ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676656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Официальная модель + детерминизм маршрутов</a:t>
            </a:r>
            <a:endParaRPr lang="en-US" sz="3000" dirty="0"/>
          </a:p>
        </p:txBody>
      </p:sp>
      <p:pic>
        <p:nvPicPr>
          <p:cNvPr id="6" name="Image 0" descr="C:\Users\Administrator\Desktop\cosmohak\presentation\img\ui_3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126480" y="1600200"/>
            <a:ext cx="5513832" cy="344728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126480" y="5120640"/>
            <a:ext cx="55138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3D-сцена сервиса: Земля, 48 аппаратов, связи и маршрут в выбранный момент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548640" y="1682496"/>
            <a:ext cx="128016" cy="128016"/>
          </a:xfrm>
          <a:prstGeom prst="ellipse">
            <a:avLst/>
          </a:prstGeom>
          <a:solidFill>
            <a:srgbClr val="14507E"/>
          </a:solidFill>
          <a:ln/>
        </p:spPr>
      </p:sp>
      <p:sp>
        <p:nvSpPr>
          <p:cNvPr id="9" name="Text 6"/>
          <p:cNvSpPr/>
          <p:nvPr/>
        </p:nvSpPr>
        <p:spPr>
          <a:xfrm>
            <a:off x="841248" y="15544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Геометрия — только официальная</a:t>
            </a:r>
            <a:endParaRPr lang="en-US" sz="1550" dirty="0"/>
          </a:p>
        </p:txBody>
      </p:sp>
      <p:sp>
        <p:nvSpPr>
          <p:cNvPr id="10" name="Text 7"/>
          <p:cNvSpPr/>
          <p:nvPr/>
        </p:nvSpPr>
        <p:spPr>
          <a:xfrm>
            <a:off x="841248" y="1920240"/>
            <a:ext cx="5074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координаты, видимость и связи из geometry.py организаторов; parity-тесты подтверждают совпадение с формулами «Описания данных»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548640" y="2642616"/>
            <a:ext cx="128016" cy="128016"/>
          </a:xfrm>
          <a:prstGeom prst="ellipse">
            <a:avLst/>
          </a:prstGeom>
          <a:solidFill>
            <a:srgbClr val="14507E"/>
          </a:solidFill>
          <a:ln/>
        </p:spPr>
      </p:sp>
      <p:sp>
        <p:nvSpPr>
          <p:cNvPr id="12" name="Text 9"/>
          <p:cNvSpPr/>
          <p:nvPr/>
        </p:nvSpPr>
        <p:spPr>
          <a:xfrm>
            <a:off x="841248" y="25146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Сетка и отказы — по документу</a:t>
            </a:r>
            <a:endParaRPr lang="en-US" sz="1550" dirty="0"/>
          </a:p>
        </p:txBody>
      </p:sp>
      <p:sp>
        <p:nvSpPr>
          <p:cNvPr id="13" name="Text 10"/>
          <p:cNvSpPr/>
          <p:nvPr/>
        </p:nvSpPr>
        <p:spPr>
          <a:xfrm>
            <a:off x="841248" y="2880360"/>
            <a:ext cx="5074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720 отсчётов (правый конец не включается), интервалы [start; end)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48640" y="3602736"/>
            <a:ext cx="128016" cy="128016"/>
          </a:xfrm>
          <a:prstGeom prst="ellipse">
            <a:avLst/>
          </a:prstGeom>
          <a:solidFill>
            <a:srgbClr val="F2A007"/>
          </a:solidFill>
          <a:ln/>
        </p:spPr>
      </p:sp>
      <p:sp>
        <p:nvSpPr>
          <p:cNvPr id="15" name="Text 12"/>
          <p:cNvSpPr/>
          <p:nvPr/>
        </p:nvSpPr>
        <p:spPr>
          <a:xfrm>
            <a:off x="841248" y="347472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RAAN/фаза — проектные параметры</a:t>
            </a:r>
            <a:endParaRPr lang="en-US" sz="1550" dirty="0"/>
          </a:p>
        </p:txBody>
      </p:sp>
      <p:sp>
        <p:nvSpPr>
          <p:cNvPr id="16" name="Text 13"/>
          <p:cNvSpPr/>
          <p:nvPr/>
        </p:nvSpPr>
        <p:spPr>
          <a:xfrm>
            <a:off x="841248" y="3840480"/>
            <a:ext cx="5074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задаются до развёртывания; сравниваем конфигурации, а не «управляем спутником в полёте»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548640" y="4562856"/>
            <a:ext cx="128016" cy="128016"/>
          </a:xfrm>
          <a:prstGeom prst="ellipse">
            <a:avLst/>
          </a:prstGeom>
          <a:solidFill>
            <a:srgbClr val="14507E"/>
          </a:solidFill>
          <a:ln/>
        </p:spPr>
      </p:sp>
      <p:sp>
        <p:nvSpPr>
          <p:cNvPr id="18" name="Text 15"/>
          <p:cNvSpPr/>
          <p:nvPr/>
        </p:nvSpPr>
        <p:spPr>
          <a:xfrm>
            <a:off x="841248" y="44348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Маршрут — Dijkstra по длине линий связи</a:t>
            </a:r>
            <a:endParaRPr lang="en-US" sz="1550" dirty="0"/>
          </a:p>
        </p:txBody>
      </p:sp>
      <p:sp>
        <p:nvSpPr>
          <p:cNvPr id="19" name="Text 16"/>
          <p:cNvSpPr/>
          <p:nvPr/>
        </p:nvSpPr>
        <p:spPr>
          <a:xfrm>
            <a:off x="841248" y="4800600"/>
            <a:ext cx="5074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минимум суммарной геометрической длины на графе текущего отсчёта; tie-break детерминирован; наземные узлы не ретранслируют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548640" y="5522976"/>
            <a:ext cx="128016" cy="128016"/>
          </a:xfrm>
          <a:prstGeom prst="ellipse">
            <a:avLst/>
          </a:prstGeom>
          <a:solidFill>
            <a:srgbClr val="14507E"/>
          </a:solidFill>
          <a:ln/>
        </p:spPr>
      </p:sp>
      <p:sp>
        <p:nvSpPr>
          <p:cNvPr id="21" name="Text 18"/>
          <p:cNvSpPr/>
          <p:nvPr/>
        </p:nvSpPr>
        <p:spPr>
          <a:xfrm>
            <a:off x="841248" y="53949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Каждый перерыв имеет причину</a:t>
            </a:r>
            <a:endParaRPr lang="en-US" sz="1550" dirty="0"/>
          </a:p>
        </p:txBody>
      </p:sp>
      <p:sp>
        <p:nvSpPr>
          <p:cNvPr id="22" name="Text 19"/>
          <p:cNvSpPr/>
          <p:nvPr/>
        </p:nvSpPr>
        <p:spPr>
          <a:xfrm>
            <a:off x="841248" y="5760720"/>
            <a:ext cx="5074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нет видимого спутника · шлюз в отказе · нет контакта шлюза · разрыв межспутниковой сети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548640" y="647395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Расчётный модуль geometry.py предоставлен организаторами; маршрутизация, аналитика и интерфейс — работа команды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1080000">
            <a:off x="9811512" y="-1371600"/>
            <a:ext cx="3108960" cy="2194560"/>
          </a:xfrm>
          <a:prstGeom prst="ellipse">
            <a:avLst/>
          </a:prstGeom>
          <a:ln w="15240">
            <a:solidFill>
              <a:srgbClr val="9FC0DC">
                <a:alpha val="9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18520" y="384048"/>
            <a:ext cx="128016" cy="128016"/>
          </a:xfrm>
          <a:prstGeom prst="ellipse">
            <a:avLst/>
          </a:prstGeom>
          <a:solidFill>
            <a:srgbClr val="F2A007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38404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B7A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РЕЗУЛЬТАТЫ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676656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Четыре сценария: от идеала до стресс-тестов</a:t>
            </a:r>
            <a:endParaRPr lang="en-US" sz="30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48640" y="1554480"/>
          <a:ext cx="6949440" cy="4480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4"/>
          <p:cNvSpPr/>
          <p:nvPr/>
        </p:nvSpPr>
        <p:spPr>
          <a:xfrm>
            <a:off x="7863840" y="160020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Доступность и худший перерыв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7863840" y="205740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Полная группировка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7863840" y="2331720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96.7–98.9%</a:t>
            </a:r>
            <a:pPr indent="0" marL="0">
              <a:buNone/>
            </a:pPr>
            <a:r>
              <a:rPr lang="en-US" sz="12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доступность ·  перерыв 2–8 мин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7863840" y="2770632"/>
            <a:ext cx="3749040" cy="0"/>
          </a:xfrm>
          <a:prstGeom prst="line">
            <a:avLst/>
          </a:prstGeom>
          <a:noFill/>
          <a:ln w="12700">
            <a:solidFill>
              <a:srgbClr val="DFE7EE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863840" y="2990088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1-я очередь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7863840" y="3264408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628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12.6–27.2%</a:t>
            </a:r>
            <a:pPr indent="0" marL="0">
              <a:buNone/>
            </a:pPr>
            <a:r>
              <a:rPr lang="en-US" sz="12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доступность ·  перерыв до 13.3 ч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7863840" y="3703320"/>
            <a:ext cx="3749040" cy="0"/>
          </a:xfrm>
          <a:prstGeom prst="line">
            <a:avLst/>
          </a:prstGeom>
          <a:noFill/>
          <a:ln w="12700">
            <a:solidFill>
              <a:srgbClr val="DFE7EE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7863840" y="3922776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отказов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7863840" y="4197096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50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79.3–82.5%</a:t>
            </a:r>
            <a:pPr indent="0" marL="0">
              <a:buNone/>
            </a:pPr>
            <a:r>
              <a:rPr lang="en-US" sz="12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доступность ·  перерыв 20–24 мин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7863840" y="4636008"/>
            <a:ext cx="3749040" cy="0"/>
          </a:xfrm>
          <a:prstGeom prst="line">
            <a:avLst/>
          </a:prstGeom>
          <a:noFill/>
          <a:ln w="12700">
            <a:solidFill>
              <a:srgbClr val="DFE7EE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863840" y="4855464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МСC 2000 км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7863840" y="5129784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50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62.2–77.5%</a:t>
            </a:r>
            <a:pPr indent="0" marL="0">
              <a:buNone/>
            </a:pPr>
            <a:r>
              <a:rPr lang="en-US" sz="12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доступность ·  перерыв 4 мин–3 ч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548640" y="647395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Расчёт команды: официальный geometry.py, сетка 720 отсчётов, стратегия мин. переходов; числа зафиксированы регрессионными тестами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1080000">
            <a:off x="9811512" y="-1371600"/>
            <a:ext cx="3108960" cy="2194560"/>
          </a:xfrm>
          <a:prstGeom prst="ellipse">
            <a:avLst/>
          </a:prstGeom>
          <a:ln w="15240">
            <a:solidFill>
              <a:srgbClr val="9FC0DC">
                <a:alpha val="9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18520" y="384048"/>
            <a:ext cx="128016" cy="128016"/>
          </a:xfrm>
          <a:prstGeom prst="ellipse">
            <a:avLst/>
          </a:prstGeom>
          <a:solidFill>
            <a:srgbClr val="F2A007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38404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B7A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УСТОЙЧИВОСТЬ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676656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Отказы: кто ломает сеть и почему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48640" y="1691640"/>
            <a:ext cx="3108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rgbClr val="F2A00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S44</a:t>
            </a:r>
            <a:endParaRPr lang="en-US" sz="6600" dirty="0"/>
          </a:p>
        </p:txBody>
      </p:sp>
      <p:sp>
        <p:nvSpPr>
          <p:cNvPr id="7" name="Text 5"/>
          <p:cNvSpPr/>
          <p:nvPr/>
        </p:nvSpPr>
        <p:spPr>
          <a:xfrm>
            <a:off x="548640" y="2880360"/>
            <a:ext cx="3383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самый критичный аппарат полной группировки: его виртуальный отказ сильнее всего роняет минимальную доступность по пунктам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548640" y="4206240"/>
            <a:ext cx="3383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Топ-10 уязвимостей считается за один проход по сетке — без пересчёта орбит; отказ применяется к сценарию прямо из таблицы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4343400" y="1645920"/>
            <a:ext cx="7315200" cy="4389120"/>
          </a:xfrm>
          <a:prstGeom prst="roundRect">
            <a:avLst>
              <a:gd name="adj" fmla="val 1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1B2A3A">
                <a:alpha val="14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663440" y="1874520"/>
            <a:ext cx="6675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Что видит инженер при каждом отказе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663440" y="2441448"/>
            <a:ext cx="118872" cy="118872"/>
          </a:xfrm>
          <a:prstGeom prst="ellipse">
            <a:avLst/>
          </a:prstGeom>
          <a:solidFill>
            <a:srgbClr val="14507E"/>
          </a:solidFill>
          <a:ln/>
        </p:spPr>
      </p:sp>
      <p:sp>
        <p:nvSpPr>
          <p:cNvPr id="12" name="Text 10"/>
          <p:cNvSpPr/>
          <p:nvPr/>
        </p:nvSpPr>
        <p:spPr>
          <a:xfrm>
            <a:off x="4956048" y="2322576"/>
            <a:ext cx="6400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Причина разрыва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4956048" y="2633472"/>
            <a:ext cx="6446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категории: нет видимого спутника / шлюз в отказе / нет контакта шлюза / разрыв ISL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663440" y="3337560"/>
            <a:ext cx="118872" cy="118872"/>
          </a:xfrm>
          <a:prstGeom prst="ellipse">
            <a:avLst/>
          </a:prstGeom>
          <a:solidFill>
            <a:srgbClr val="14507E"/>
          </a:solidFill>
          <a:ln/>
        </p:spPr>
      </p:sp>
      <p:sp>
        <p:nvSpPr>
          <p:cNvPr id="15" name="Text 13"/>
          <p:cNvSpPr/>
          <p:nvPr/>
        </p:nvSpPr>
        <p:spPr>
          <a:xfrm>
            <a:off x="4956048" y="3218688"/>
            <a:ext cx="6400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Перестроение маршрута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4956048" y="3529584"/>
            <a:ext cx="6446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новый путь или новый перерыв с точным интервалом [начало; конец)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663440" y="4233672"/>
            <a:ext cx="118872" cy="118872"/>
          </a:xfrm>
          <a:prstGeom prst="ellipse">
            <a:avLst/>
          </a:prstGeom>
          <a:solidFill>
            <a:srgbClr val="14507E"/>
          </a:solidFill>
          <a:ln/>
        </p:spPr>
      </p:sp>
      <p:sp>
        <p:nvSpPr>
          <p:cNvPr id="18" name="Text 16"/>
          <p:cNvSpPr/>
          <p:nvPr/>
        </p:nvSpPr>
        <p:spPr>
          <a:xfrm>
            <a:off x="4956048" y="4114800"/>
            <a:ext cx="6400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Δ по каждому пункту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4956048" y="4425696"/>
            <a:ext cx="6446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калькулятор «что если»: доступность и перерывы до/после отказа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663440" y="5129784"/>
            <a:ext cx="118872" cy="118872"/>
          </a:xfrm>
          <a:prstGeom prst="ellipse">
            <a:avLst/>
          </a:prstGeom>
          <a:solidFill>
            <a:srgbClr val="14507E"/>
          </a:solidFill>
          <a:ln/>
        </p:spPr>
      </p:sp>
      <p:sp>
        <p:nvSpPr>
          <p:cNvPr id="21" name="Text 19"/>
          <p:cNvSpPr/>
          <p:nvPr/>
        </p:nvSpPr>
        <p:spPr>
          <a:xfrm>
            <a:off x="4956048" y="5010912"/>
            <a:ext cx="6400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Резервные пути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4956048" y="5321808"/>
            <a:ext cx="6446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node-disjoint резерв и его доля по времени — оценка запаса прочности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1080000">
            <a:off x="9811512" y="-1371600"/>
            <a:ext cx="3108960" cy="2194560"/>
          </a:xfrm>
          <a:prstGeom prst="ellipse">
            <a:avLst/>
          </a:prstGeom>
          <a:ln w="15240">
            <a:solidFill>
              <a:srgbClr val="9FC0DC">
                <a:alpha val="9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18520" y="384048"/>
            <a:ext cx="128016" cy="128016"/>
          </a:xfrm>
          <a:prstGeom prst="ellipse">
            <a:avLst/>
          </a:prstGeom>
          <a:solidFill>
            <a:srgbClr val="F2A007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38404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B7A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РЕКОМЕНДАЦИЯ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676656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Критерий без «магических» весов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48640" y="1645920"/>
            <a:ext cx="420624" cy="420624"/>
          </a:xfrm>
          <a:prstGeom prst="ellipse">
            <a:avLst/>
          </a:prstGeom>
          <a:solidFill>
            <a:srgbClr val="14507E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16459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097280" y="1572768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максимум минимальной доступности по пунктам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3401568" y="1645920"/>
            <a:ext cx="420624" cy="420624"/>
          </a:xfrm>
          <a:prstGeom prst="ellipse">
            <a:avLst/>
          </a:prstGeom>
          <a:solidFill>
            <a:srgbClr val="14507E"/>
          </a:solidFill>
          <a:ln/>
        </p:spPr>
      </p:sp>
      <p:sp>
        <p:nvSpPr>
          <p:cNvPr id="10" name="Text 8"/>
          <p:cNvSpPr/>
          <p:nvPr/>
        </p:nvSpPr>
        <p:spPr>
          <a:xfrm>
            <a:off x="3401568" y="16459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3950208" y="1572768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затем максимум средней доступности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254496" y="1645920"/>
            <a:ext cx="420624" cy="420624"/>
          </a:xfrm>
          <a:prstGeom prst="ellipse">
            <a:avLst/>
          </a:prstGeom>
          <a:solidFill>
            <a:srgbClr val="14507E"/>
          </a:solidFill>
          <a:ln/>
        </p:spPr>
      </p:sp>
      <p:sp>
        <p:nvSpPr>
          <p:cNvPr id="13" name="Text 11"/>
          <p:cNvSpPr/>
          <p:nvPr/>
        </p:nvSpPr>
        <p:spPr>
          <a:xfrm>
            <a:off x="6254496" y="16459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6803136" y="1572768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затем минимум худшего перерыва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9107424" y="1645920"/>
            <a:ext cx="420624" cy="420624"/>
          </a:xfrm>
          <a:prstGeom prst="ellipse">
            <a:avLst/>
          </a:prstGeom>
          <a:solidFill>
            <a:srgbClr val="14507E"/>
          </a:solidFill>
          <a:ln/>
        </p:spPr>
      </p:sp>
      <p:sp>
        <p:nvSpPr>
          <p:cNvPr id="16" name="Text 14"/>
          <p:cNvSpPr/>
          <p:nvPr/>
        </p:nvSpPr>
        <p:spPr>
          <a:xfrm>
            <a:off x="9107424" y="16459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9656064" y="1572768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затем минимум среднего числа переходов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548640" y="2697480"/>
            <a:ext cx="11091672" cy="1371600"/>
          </a:xfrm>
          <a:prstGeom prst="roundRect">
            <a:avLst>
              <a:gd name="adj" fmla="val 5333"/>
            </a:avLst>
          </a:prstGeom>
          <a:solidFill>
            <a:srgbClr val="FFF7E6"/>
          </a:solidFill>
          <a:ln/>
        </p:spPr>
      </p:sp>
      <p:sp>
        <p:nvSpPr>
          <p:cNvPr id="19" name="Text 17"/>
          <p:cNvSpPr/>
          <p:nvPr/>
        </p:nvSpPr>
        <p:spPr>
          <a:xfrm>
            <a:off x="822960" y="2907792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Вывод по проекту: </a:t>
            </a:r>
            <a:pPr indent="0" marL="0">
              <a:buNone/>
            </a:pPr>
            <a:r>
              <a:rPr lang="en-US" sz="1500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цель ≥90% для всех северных пунктов достигается только полной группировкой (этап 3) при дальности МСC 3000 км — 96.7–98.9%. Ранняя очередь (этап 1) даёт лишь 12.6–27.2% с перерывами до 13 часов; ограничение МСC 2000 км снижает доступность до 62–78% — узкое место deliveries C70/C72.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594360" y="4425696"/>
            <a:ext cx="109728" cy="109728"/>
          </a:xfrm>
          <a:prstGeom prst="ellipse">
            <a:avLst/>
          </a:prstGeom>
          <a:solidFill>
            <a:srgbClr val="2E7D32"/>
          </a:solidFill>
          <a:ln/>
        </p:spPr>
      </p:sp>
      <p:sp>
        <p:nvSpPr>
          <p:cNvPr id="21" name="Text 19"/>
          <p:cNvSpPr/>
          <p:nvPr/>
        </p:nvSpPr>
        <p:spPr>
          <a:xfrm>
            <a:off x="868680" y="4343400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Полная группировка (этап 3)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400800" y="4343400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из 3 пунктов достигают цели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594360" y="4937760"/>
            <a:ext cx="109728" cy="109728"/>
          </a:xfrm>
          <a:prstGeom prst="ellipse">
            <a:avLst/>
          </a:prstGeom>
          <a:solidFill>
            <a:srgbClr val="C62828"/>
          </a:solidFill>
          <a:ln/>
        </p:spPr>
      </p:sp>
      <p:sp>
        <p:nvSpPr>
          <p:cNvPr id="24" name="Text 22"/>
          <p:cNvSpPr/>
          <p:nvPr/>
        </p:nvSpPr>
        <p:spPr>
          <a:xfrm>
            <a:off x="868680" y="4855464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аппаратов в отказе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6400800" y="4855464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из 3 · падение на ~17 п.п.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594360" y="5449824"/>
            <a:ext cx="109728" cy="109728"/>
          </a:xfrm>
          <a:prstGeom prst="ellipse">
            <a:avLst/>
          </a:prstGeom>
          <a:solidFill>
            <a:srgbClr val="C62828"/>
          </a:solidFill>
          <a:ln/>
        </p:spPr>
      </p:sp>
      <p:sp>
        <p:nvSpPr>
          <p:cNvPr id="27" name="Text 25"/>
          <p:cNvSpPr/>
          <p:nvPr/>
        </p:nvSpPr>
        <p:spPr>
          <a:xfrm>
            <a:off x="868680" y="5367528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Ограничение МСC 2000 км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6400800" y="5367528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из 3 · узкие места C70 и C72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594360" y="5961888"/>
            <a:ext cx="109728" cy="109728"/>
          </a:xfrm>
          <a:prstGeom prst="ellipse">
            <a:avLst/>
          </a:prstGeom>
          <a:solidFill>
            <a:srgbClr val="14507E"/>
          </a:solidFill>
          <a:ln/>
        </p:spPr>
      </p:sp>
      <p:sp>
        <p:nvSpPr>
          <p:cNvPr id="30" name="Text 28"/>
          <p:cNvSpPr/>
          <p:nvPr/>
        </p:nvSpPr>
        <p:spPr>
          <a:xfrm>
            <a:off x="868680" y="5879592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Смещение RAAN/фазирования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400800" y="5879592"/>
            <a:ext cx="5120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оценивается автоподбором за 20–60 прогонов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548640" y="6473952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Рекомендация строится по фактически рассчитанным метрикам; обоснование выводится в интерфейсе вместе с вариантом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6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FC0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ИНТЕРФЕЙС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76656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AF2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Всё на одном экране — без чтения документации</a:t>
            </a:r>
            <a:endParaRPr lang="en-US" sz="3000" dirty="0"/>
          </a:p>
        </p:txBody>
      </p:sp>
      <p:pic>
        <p:nvPicPr>
          <p:cNvPr id="4" name="Image 0" descr="C:\Users\Administrator\Desktop\cosmohak\presentation\img\ui_overview.png">    </p:cNvPr>
          <p:cNvPicPr>
            <a:picLocks noChangeAspect="1"/>
          </p:cNvPicPr>
          <p:nvPr/>
        </p:nvPicPr>
        <p:blipFill>
          <a:blip r:embed="rId1"/>
          <a:srcRect l="5" r="5" t="0" b="0"/>
          <a:stretch/>
        </p:blipFill>
        <p:spPr>
          <a:xfrm>
            <a:off x="548640" y="1572768"/>
            <a:ext cx="8321040" cy="47091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9098280" y="1920240"/>
            <a:ext cx="26517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AF2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Дашборд: карточки пунктов с целевым уровнем, шкала состояний, карта треков, таблица метрик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9098280" y="4480560"/>
            <a:ext cx="2651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C0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Вкладки: Обзор · Сеть и время · Сравнение · Устойчивость · Экспорт · Методика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1080000">
            <a:off x="9811512" y="-1371600"/>
            <a:ext cx="3108960" cy="2194560"/>
          </a:xfrm>
          <a:prstGeom prst="ellipse">
            <a:avLst/>
          </a:prstGeom>
          <a:ln w="15240">
            <a:solidFill>
              <a:srgbClr val="9FC0DC">
                <a:alpha val="9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18520" y="384048"/>
            <a:ext cx="128016" cy="128016"/>
          </a:xfrm>
          <a:prstGeom prst="ellipse">
            <a:avLst/>
          </a:prstGeom>
          <a:solidFill>
            <a:srgbClr val="F2A007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38404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B7A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ИНЖЕНЕРНОЕ КАЧЕСТВО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676656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Проверяемо, воспроизводимо, готово к запуску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48640" y="1737360"/>
            <a:ext cx="25603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1450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86</a:t>
            </a:r>
            <a:endParaRPr lang="en-US" sz="5400" dirty="0"/>
          </a:p>
        </p:txBody>
      </p:sp>
      <p:sp>
        <p:nvSpPr>
          <p:cNvPr id="7" name="Text 5"/>
          <p:cNvSpPr/>
          <p:nvPr/>
        </p:nvSpPr>
        <p:spPr>
          <a:xfrm>
            <a:off x="548640" y="2743200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автотеста: валидация, границы отказов,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маршрутизация, метрики, экспорт, UI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3401568" y="1737360"/>
            <a:ext cx="25603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1450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2×</a:t>
            </a:r>
            <a:endParaRPr lang="en-US" sz="5400" dirty="0"/>
          </a:p>
        </p:txBody>
      </p:sp>
      <p:sp>
        <p:nvSpPr>
          <p:cNvPr id="9" name="Text 7"/>
          <p:cNvSpPr/>
          <p:nvPr/>
        </p:nvSpPr>
        <p:spPr>
          <a:xfrm>
            <a:off x="3401568" y="2743200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движка геометрии: официальный модуль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 формулы документа — parity-тесты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6254496" y="1737360"/>
            <a:ext cx="25603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2A00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2160</a:t>
            </a:r>
            <a:endParaRPr lang="en-US" sz="5400" dirty="0"/>
          </a:p>
        </p:txBody>
      </p:sp>
      <p:sp>
        <p:nvSpPr>
          <p:cNvPr id="11" name="Text 9"/>
          <p:cNvSpPr/>
          <p:nvPr/>
        </p:nvSpPr>
        <p:spPr>
          <a:xfrm>
            <a:off x="6254496" y="2743200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маршрутов в экспорте cosmo-A-result-1.0: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каждый путь валиден в свой момент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9107424" y="1737360"/>
            <a:ext cx="25603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1450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5400" dirty="0"/>
          </a:p>
        </p:txBody>
      </p:sp>
      <p:sp>
        <p:nvSpPr>
          <p:cNvPr id="13" name="Text 11"/>
          <p:cNvSpPr/>
          <p:nvPr/>
        </p:nvSpPr>
        <p:spPr>
          <a:xfrm>
            <a:off x="9107424" y="2743200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команда на запуск: streamlit run app.py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или docker run — без API-ключей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48640" y="3977640"/>
            <a:ext cx="11091672" cy="0"/>
          </a:xfrm>
          <a:prstGeom prst="line">
            <a:avLst/>
          </a:prstGeom>
          <a:noFill/>
          <a:ln w="12700">
            <a:solidFill>
              <a:srgbClr val="9FC0D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48640" y="41605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Воспроизводимость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548640" y="4572000"/>
            <a:ext cx="110642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800"/>
              </a:spcAft>
              <a:buSzPct val="100000"/>
              <a:buChar char="▸"/>
            </a:pPr>
            <a:r>
              <a:rPr lang="en-US" sz="1450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регрессионные числа зафиксированы тестами по всем 4 сценариям</a:t>
            </a:r>
            <a:endParaRPr lang="en-US" sz="1450" dirty="0"/>
          </a:p>
          <a:p>
            <a:pPr marL="152400" indent="-152400">
              <a:spcAft>
                <a:spcPts val="800"/>
              </a:spcAft>
              <a:buSzPct val="100000"/>
              <a:buChar char="▸"/>
            </a:pPr>
            <a:r>
              <a:rPr lang="en-US" sz="1450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экспортированный effective_scenario загружается обратно и проходит полную валидацию</a:t>
            </a:r>
            <a:endParaRPr lang="en-US" sz="1450" dirty="0"/>
          </a:p>
          <a:p>
            <a:pPr marL="152400" indent="-152400">
              <a:spcAft>
                <a:spcPts val="800"/>
              </a:spcAft>
              <a:buSzPct val="100000"/>
              <a:buChar char="▸"/>
            </a:pPr>
            <a:r>
              <a:rPr lang="en-US" sz="1450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детерминизм: те же входные данные дают бит-в-бит тот же результат (проверено тестами)</a:t>
            </a:r>
            <a:endParaRPr lang="en-US" sz="14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1080000">
            <a:off x="9811512" y="-1371600"/>
            <a:ext cx="3108960" cy="2194560"/>
          </a:xfrm>
          <a:prstGeom prst="ellipse">
            <a:avLst/>
          </a:prstGeom>
          <a:ln w="15240">
            <a:solidFill>
              <a:srgbClr val="9FC0DC">
                <a:alpha val="9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018520" y="384048"/>
            <a:ext cx="128016" cy="128016"/>
          </a:xfrm>
          <a:prstGeom prst="ellipse">
            <a:avLst/>
          </a:prstGeom>
          <a:solidFill>
            <a:srgbClr val="F2A007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384048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B7A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ДЕМОНСТРАЦИЯ ~3 МИНУТЫ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676656"/>
            <a:ext cx="9692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Живой сценарий для жюри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48640" y="1828800"/>
            <a:ext cx="457200" cy="457200"/>
          </a:xfrm>
          <a:prstGeom prst="ellipse">
            <a:avLst/>
          </a:prstGeom>
          <a:solidFill>
            <a:srgbClr val="14507E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170432" y="1764792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Полная группировка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170432" y="2112264"/>
            <a:ext cx="4754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доступность 96.7–98.9%, цель достигнута всеми пунктами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263640" y="1828800"/>
            <a:ext cx="457200" cy="457200"/>
          </a:xfrm>
          <a:prstGeom prst="ellipse">
            <a:avLst/>
          </a:prstGeom>
          <a:solidFill>
            <a:srgbClr val="14507E"/>
          </a:solidFill>
          <a:ln/>
        </p:spPr>
      </p:sp>
      <p:sp>
        <p:nvSpPr>
          <p:cNvPr id="11" name="Text 9"/>
          <p:cNvSpPr/>
          <p:nvPr/>
        </p:nvSpPr>
        <p:spPr>
          <a:xfrm>
            <a:off x="6263640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6885432" y="1764792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Сеть и время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885432" y="2112264"/>
            <a:ext cx="4754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маршрут в 3D, слайдер времени, прыжок к перерыву и его причина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48640" y="3246120"/>
            <a:ext cx="457200" cy="457200"/>
          </a:xfrm>
          <a:prstGeom prst="ellipse">
            <a:avLst/>
          </a:prstGeom>
          <a:solidFill>
            <a:srgbClr val="14507E"/>
          </a:solidFill>
          <a:ln/>
        </p:spPr>
      </p:sp>
      <p:sp>
        <p:nvSpPr>
          <p:cNvPr id="15" name="Text 13"/>
          <p:cNvSpPr/>
          <p:nvPr/>
        </p:nvSpPr>
        <p:spPr>
          <a:xfrm>
            <a:off x="548640" y="3246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1170432" y="3182112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Этап 3 → 1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170432" y="3529584"/>
            <a:ext cx="4754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пересчёт: доступность 12.6–27.2%, перерывы до 13 часов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263640" y="3246120"/>
            <a:ext cx="457200" cy="457200"/>
          </a:xfrm>
          <a:prstGeom prst="ellipse">
            <a:avLst/>
          </a:prstGeom>
          <a:solidFill>
            <a:srgbClr val="14507E"/>
          </a:solidFill>
          <a:ln/>
        </p:spPr>
      </p:sp>
      <p:sp>
        <p:nvSpPr>
          <p:cNvPr id="19" name="Text 17"/>
          <p:cNvSpPr/>
          <p:nvPr/>
        </p:nvSpPr>
        <p:spPr>
          <a:xfrm>
            <a:off x="6263640" y="3246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6885432" y="3182112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Отказ спутника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6885432" y="3529584"/>
            <a:ext cx="4754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добавляем отказ из маршрута — перестроение или перерыв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548640" y="4663440"/>
            <a:ext cx="457200" cy="457200"/>
          </a:xfrm>
          <a:prstGeom prst="ellipse">
            <a:avLst/>
          </a:prstGeom>
          <a:solidFill>
            <a:srgbClr val="14507E"/>
          </a:solidFill>
          <a:ln/>
        </p:spPr>
      </p:sp>
      <p:sp>
        <p:nvSpPr>
          <p:cNvPr id="23" name="Text 21"/>
          <p:cNvSpPr/>
          <p:nvPr/>
        </p:nvSpPr>
        <p:spPr>
          <a:xfrm>
            <a:off x="548640" y="4663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1170432" y="4599432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Сравнение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1170432" y="4946904"/>
            <a:ext cx="4754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два варианта: различия конфигурации, Δ метрик, рекомендация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6263640" y="4663440"/>
            <a:ext cx="457200" cy="457200"/>
          </a:xfrm>
          <a:prstGeom prst="ellipse">
            <a:avLst/>
          </a:prstGeom>
          <a:solidFill>
            <a:srgbClr val="F2A007"/>
          </a:solidFill>
          <a:ln/>
        </p:spPr>
      </p:sp>
      <p:sp>
        <p:nvSpPr>
          <p:cNvPr id="27" name="Text 25"/>
          <p:cNvSpPr/>
          <p:nvPr/>
        </p:nvSpPr>
        <p:spPr>
          <a:xfrm>
            <a:off x="6263640" y="4663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6885432" y="4599432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Экспорт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6885432" y="4946904"/>
            <a:ext cx="4754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 JSON на 2160 маршрутов и повторная загрузка сценария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16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926080" y="2194560"/>
            <a:ext cx="8686800" cy="8686800"/>
          </a:xfrm>
          <a:prstGeom prst="ellipse">
            <a:avLst/>
          </a:prstGeom>
          <a:ln w="16510">
            <a:solidFill>
              <a:srgbClr val="3B7AB8">
                <a:alpha val="6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703320" y="5532120"/>
            <a:ext cx="146304" cy="146304"/>
          </a:xfrm>
          <a:prstGeom prst="ellipse">
            <a:avLst/>
          </a:prstGeom>
          <a:solidFill>
            <a:srgbClr val="F2A007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23444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9FC0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РЕКОМЕНДАЦИЯ КОМАНДЫ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1645920"/>
            <a:ext cx="110642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800"/>
              </a:lnSpc>
              <a:buNone/>
            </a:pPr>
            <a:r>
              <a:rPr lang="en-US" sz="4000" b="1" dirty="0">
                <a:solidFill>
                  <a:srgbClr val="EAF2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Развёртывать все три очереди</a:t>
            </a:r>
            <a:endParaRPr lang="en-US" sz="4000" dirty="0"/>
          </a:p>
          <a:p>
            <a:pPr indent="0" marL="0">
              <a:lnSpc>
                <a:spcPts val="4800"/>
              </a:lnSpc>
              <a:buNone/>
            </a:pPr>
            <a:r>
              <a:rPr lang="en-US" sz="4000" b="1" dirty="0">
                <a:solidFill>
                  <a:srgbClr val="EAF2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 держать МСC 3000 км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548640" y="3566160"/>
            <a:ext cx="9692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8FA5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только эта конфигурация закрывает цель ≥90% для всех северных пунктов (96.7–98.9%)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8FA5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узкие места известны и измерены: критичные аппараты, перерывы по причинам, резерв путей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48640" y="4846320"/>
            <a:ext cx="2926080" cy="0"/>
          </a:xfrm>
          <a:prstGeom prst="line">
            <a:avLst/>
          </a:prstGeom>
          <a:noFill/>
          <a:ln w="31750">
            <a:solidFill>
              <a:srgbClr val="F2A00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50749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EAF2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github.com/ivergit88/cosmohak — публичный репозиторий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9FC0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 -m venv .venv · pip install -r requirements.txt · streamlit run app.py   |   docker run -p 8501:8501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Устойчивая спутниковая группировка — защита решения</dc:title>
  <dc:subject>PptxGenJS Presentation</dc:subject>
  <dc:creator>Команда КосмоХакатона</dc:creator>
  <cp:lastModifiedBy>Команда КосмоХакатона</cp:lastModifiedBy>
  <cp:revision>1</cp:revision>
  <dcterms:created xsi:type="dcterms:W3CDTF">2026-09-12T15:52:12Z</dcterms:created>
  <dcterms:modified xsi:type="dcterms:W3CDTF">2026-09-12T15:52:12Z</dcterms:modified>
</cp:coreProperties>
</file>